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6"/>
  </p:notesMasterIdLst>
  <p:sldIdLst>
    <p:sldId id="256" r:id="rId5"/>
    <p:sldId id="257" r:id="rId4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>
            <p:ph type="body" sz="quarter" idx="6" hasCustomPrompt="1"/>
          </p:nvPr>
        </p:nvSpPr>
        <p:spPr>
          <a:xfrm>
            <a:off x="914400" y="1551979"/>
            <a:ext cx="10363200" cy="23342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108000" anchor="ctr"/>
          <a:lstStyle>
            <a:lvl1pPr algn="ctr">
              <a:lnSpc>
                <a:spcPct val="100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44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7" hasCustomPrompt="1"/>
          </p:nvPr>
        </p:nvSpPr>
        <p:spPr>
          <a:xfrm>
            <a:off x="914400" y="4335351"/>
            <a:ext cx="10363200" cy="10431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108000" rIns="91440" bIns="45720" anchor="t"/>
          <a:lstStyle>
            <a:lvl1pPr algn="ctr">
              <a:lnSpc>
                <a:spcPct val="117000"/>
              </a:lnSpc>
              <a:defRPr sz="2100" b="1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17000"/>
              </a:lnSpc>
            </a:pPr>
            <a:r>
              <a:rPr lang="en-US" sz="21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  <a:endParaRPr lang="en-US" sz="21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1_章节幻灯片">
    <p:bg>
      <p:bgPr>
        <a:solidFill>
          <a:srgbClr val="F7EC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8" hasCustomPrompt="1"/>
          </p:nvPr>
        </p:nvSpPr>
        <p:spPr>
          <a:xfrm>
            <a:off x="914400" y="1581527"/>
            <a:ext cx="10363200" cy="27968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108000" anchor="ctr"/>
          <a:lstStyle>
            <a:lvl1pPr algn="ctr">
              <a:lnSpc>
                <a:spcPct val="150000"/>
              </a:lnSpc>
              <a:defRPr sz="4000" b="1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50000"/>
              </a:lnSpc>
            </a:pPr>
            <a:r>
              <a:rPr lang="en-US" sz="40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40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17143" y="151161"/>
            <a:ext cx="2148516" cy="70025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10715880" y="203453"/>
            <a:ext cx="1428509" cy="5078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方正粗黑宋简体" panose="02000000000000000000" charset="-122"/>
              </a:rPr>
              <a:t>网络研究院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INSC</a:t>
            </a:r>
            <a:r>
              <a:rPr lang="en-US" sz="1300" b="0" i="0" u="none" strike="noStrike">
                <a:solidFill>
                  <a:srgbClr val="FFFF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方正粗黑宋简体" panose="02000000000000000000" charset="-122"/>
              </a:rPr>
              <a:t> </a:t>
            </a:r>
            <a:endParaRPr lang="en-US" sz="1300" b="0" i="0" u="none" strike="noStrike">
              <a:solidFill>
                <a:srgbClr val="FFFFFF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  <a:sym typeface="方正粗黑宋简体" panose="020000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>
            <a:off x="10713721" y="288222"/>
            <a:ext cx="10887" cy="495551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>
            <p:ph type="body" sz="quarter" idx="9"/>
          </p:nvPr>
        </p:nvSpPr>
        <p:spPr>
          <a:xfrm>
            <a:off x="609600" y="6453965"/>
            <a:ext cx="2844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7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10" hasCustomPrompt="1"/>
          </p:nvPr>
        </p:nvSpPr>
        <p:spPr>
          <a:xfrm>
            <a:off x="4165600" y="6453965"/>
            <a:ext cx="3860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7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7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7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11"/>
          </p:nvPr>
        </p:nvSpPr>
        <p:spPr>
          <a:xfrm>
            <a:off x="8737600" y="6453965"/>
            <a:ext cx="2844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ts val="1240"/>
              </a:lnSpc>
              <a:defRPr sz="7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  <p:sp>
        <p:nvSpPr>
          <p:cNvPr id="8" name="AutoShape 8"/>
          <p:cNvSpPr/>
          <p:nvPr>
            <p:ph type="body" sz="quarter" idx="12" hasCustomPrompt="1"/>
          </p:nvPr>
        </p:nvSpPr>
        <p:spPr>
          <a:xfrm>
            <a:off x="609600" y="51603"/>
            <a:ext cx="7807543" cy="86279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3200" b="1" i="0" u="none" strike="noStrike" spc="0">
                <a:solidFill>
                  <a:srgbClr val="FFFF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200" b="1" i="0" u="none" strike="noStrike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及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17143" y="151161"/>
            <a:ext cx="2148516" cy="70025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10715880" y="203453"/>
            <a:ext cx="1428509" cy="5078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方正粗黑宋简体" panose="02000000000000000000" charset="-122"/>
              </a:rPr>
              <a:t>网络研究院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INSC</a:t>
            </a:r>
            <a:r>
              <a:rPr lang="en-US" sz="1300" b="0" i="0" u="none" strike="noStrike">
                <a:solidFill>
                  <a:srgbClr val="FFFF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方正粗黑宋简体" panose="02000000000000000000" charset="-122"/>
              </a:rPr>
              <a:t> </a:t>
            </a:r>
            <a:endParaRPr lang="en-US" sz="1300" b="0" i="0" u="none" strike="noStrike">
              <a:solidFill>
                <a:srgbClr val="FFFFFF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  <a:sym typeface="方正粗黑宋简体" panose="020000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>
            <a:off x="10713721" y="288222"/>
            <a:ext cx="10887" cy="495551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>
            <p:ph type="body" sz="quarter" idx="13"/>
          </p:nvPr>
        </p:nvSpPr>
        <p:spPr>
          <a:xfrm>
            <a:off x="609600" y="6453965"/>
            <a:ext cx="2844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7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14" hasCustomPrompt="1"/>
          </p:nvPr>
        </p:nvSpPr>
        <p:spPr>
          <a:xfrm>
            <a:off x="4165600" y="6453965"/>
            <a:ext cx="3860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7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7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7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15"/>
          </p:nvPr>
        </p:nvSpPr>
        <p:spPr>
          <a:xfrm>
            <a:off x="8737600" y="6453965"/>
            <a:ext cx="2844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ts val="1240"/>
              </a:lnSpc>
              <a:defRPr sz="7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  <p:sp>
        <p:nvSpPr>
          <p:cNvPr id="8" name="AutoShape 8"/>
          <p:cNvSpPr/>
          <p:nvPr>
            <p:ph type="body" sz="quarter" idx="16"/>
          </p:nvPr>
        </p:nvSpPr>
        <p:spPr>
          <a:xfrm>
            <a:off x="609602" y="1162050"/>
            <a:ext cx="10972799" cy="5087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17000"/>
              </a:lnSpc>
              <a:defRPr sz="26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30200" indent="-3302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2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6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95300" lvl="1" indent="-304800" algn="l">
              <a:lnSpc>
                <a:spcPct val="117000"/>
              </a:lnSpc>
              <a:buClr>
                <a:srgbClr val="E46C0A"/>
              </a:buClr>
              <a:buChar char="•"/>
            </a:pPr>
            <a:r>
              <a:rPr lang="en-US" sz="2400" b="0" i="0" u="none" strike="noStrike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二级</a:t>
            </a:r>
            <a:endParaRPr lang="en-US" sz="2400" b="0" i="0" u="none" strike="noStrike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40080" lvl="2" indent="-2540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06450" lvl="3" indent="-2286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998855" lvl="4" indent="-2286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>
            <p:ph type="body" sz="quarter" idx="17" hasCustomPrompt="1"/>
          </p:nvPr>
        </p:nvSpPr>
        <p:spPr>
          <a:xfrm>
            <a:off x="609600" y="51603"/>
            <a:ext cx="7807543" cy="86279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3200" b="1" i="0" u="none" strike="noStrike" spc="0">
                <a:solidFill>
                  <a:srgbClr val="FFFF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200" b="1" i="0" u="none" strike="noStrike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双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17143" y="151161"/>
            <a:ext cx="2148516" cy="70025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10715880" y="203453"/>
            <a:ext cx="1428509" cy="5078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方正粗黑宋简体" panose="02000000000000000000" charset="-122"/>
              </a:rPr>
              <a:t>网络研究院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INSC</a:t>
            </a:r>
            <a:r>
              <a:rPr lang="en-US" sz="1300" b="0" i="0" u="none" strike="noStrike">
                <a:solidFill>
                  <a:srgbClr val="FFFF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方正粗黑宋简体" panose="02000000000000000000" charset="-122"/>
              </a:rPr>
              <a:t> </a:t>
            </a:r>
            <a:endParaRPr lang="en-US" sz="1300" b="0" i="0" u="none" strike="noStrike">
              <a:solidFill>
                <a:srgbClr val="FFFFFF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  <a:sym typeface="方正粗黑宋简体" panose="020000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>
            <a:off x="10713721" y="288222"/>
            <a:ext cx="10887" cy="495551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>
            <p:ph type="body" sz="quarter" idx="18"/>
          </p:nvPr>
        </p:nvSpPr>
        <p:spPr>
          <a:xfrm>
            <a:off x="609600" y="6453965"/>
            <a:ext cx="2844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7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19" hasCustomPrompt="1"/>
          </p:nvPr>
        </p:nvSpPr>
        <p:spPr>
          <a:xfrm>
            <a:off x="4165600" y="6453965"/>
            <a:ext cx="3860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7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7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7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20"/>
          </p:nvPr>
        </p:nvSpPr>
        <p:spPr>
          <a:xfrm>
            <a:off x="8737600" y="6453965"/>
            <a:ext cx="2844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ts val="1240"/>
              </a:lnSpc>
              <a:defRPr sz="7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  <p:sp>
        <p:nvSpPr>
          <p:cNvPr id="8" name="AutoShape 8"/>
          <p:cNvSpPr/>
          <p:nvPr>
            <p:ph type="body" sz="quarter" idx="21"/>
          </p:nvPr>
        </p:nvSpPr>
        <p:spPr>
          <a:xfrm>
            <a:off x="609600" y="1162050"/>
            <a:ext cx="5256213" cy="5087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17000"/>
              </a:lnSpc>
              <a:defRPr sz="26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30200" indent="-3302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2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6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95300" lvl="1" indent="-304800" algn="l">
              <a:lnSpc>
                <a:spcPct val="117000"/>
              </a:lnSpc>
              <a:buClr>
                <a:srgbClr val="E46C0A"/>
              </a:buClr>
              <a:buChar char="•"/>
            </a:pPr>
            <a:r>
              <a:rPr lang="en-US" sz="2400" b="0" i="0" u="none" strike="noStrike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二级</a:t>
            </a:r>
            <a:endParaRPr lang="en-US" sz="2400" b="0" i="0" u="none" strike="noStrike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40080" lvl="2" indent="-2540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06450" lvl="3" indent="-2286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998855" lvl="4" indent="-2286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>
            <p:ph type="body" sz="quarter" idx="22"/>
          </p:nvPr>
        </p:nvSpPr>
        <p:spPr>
          <a:xfrm>
            <a:off x="6326188" y="1162050"/>
            <a:ext cx="5256213" cy="5087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17000"/>
              </a:lnSpc>
              <a:defRPr sz="26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30200" indent="-3302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2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6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95300" lvl="1" indent="-304800" algn="l">
              <a:lnSpc>
                <a:spcPct val="117000"/>
              </a:lnSpc>
              <a:buClr>
                <a:srgbClr val="E46C0A"/>
              </a:buClr>
              <a:buChar char="•"/>
            </a:pPr>
            <a:r>
              <a:rPr lang="en-US" sz="2400" b="0" i="0" u="none" strike="noStrike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二级</a:t>
            </a:r>
            <a:endParaRPr lang="en-US" sz="2400" b="0" i="0" u="none" strike="noStrike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40080" lvl="2" indent="-2540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06450" lvl="3" indent="-2286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998855" lvl="4" indent="-2286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>
            <p:ph type="body" sz="quarter" idx="23" hasCustomPrompt="1"/>
          </p:nvPr>
        </p:nvSpPr>
        <p:spPr>
          <a:xfrm>
            <a:off x="609600" y="51603"/>
            <a:ext cx="7807543" cy="86279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3200" b="1" i="0" u="none" strike="noStrike" spc="0">
                <a:solidFill>
                  <a:srgbClr val="FFFF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200" b="1" i="0" u="none" strike="noStrike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双栏带子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417143" y="151161"/>
            <a:ext cx="2148516" cy="70025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10715880" y="203453"/>
            <a:ext cx="1428509" cy="5078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方正粗黑宋简体" panose="02000000000000000000" charset="-122"/>
              </a:rPr>
              <a:t>网络研究院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INSC</a:t>
            </a:r>
            <a:r>
              <a:rPr lang="en-US" sz="1300" b="0" i="0" u="none" strike="noStrike">
                <a:solidFill>
                  <a:srgbClr val="FFFF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方正粗黑宋简体" panose="02000000000000000000" charset="-122"/>
              </a:rPr>
              <a:t> </a:t>
            </a:r>
            <a:endParaRPr lang="en-US" sz="1300" b="0" i="0" u="none" strike="noStrike">
              <a:solidFill>
                <a:srgbClr val="FFFFFF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  <a:sym typeface="方正粗黑宋简体" panose="020000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>
            <a:off x="10713721" y="288222"/>
            <a:ext cx="10887" cy="495551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>
            <p:ph type="body" sz="quarter" idx="24"/>
          </p:nvPr>
        </p:nvSpPr>
        <p:spPr>
          <a:xfrm>
            <a:off x="609600" y="6453965"/>
            <a:ext cx="2844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7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4165600" y="6453965"/>
            <a:ext cx="3860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7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7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7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AutoShape 7"/>
          <p:cNvSpPr/>
          <p:nvPr>
            <p:ph type="body" sz="quarter" idx="26"/>
          </p:nvPr>
        </p:nvSpPr>
        <p:spPr>
          <a:xfrm>
            <a:off x="8737600" y="6453965"/>
            <a:ext cx="2844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ts val="1240"/>
              </a:lnSpc>
              <a:defRPr sz="7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  <p:sp>
        <p:nvSpPr>
          <p:cNvPr id="8" name="AutoShape 8"/>
          <p:cNvSpPr/>
          <p:nvPr>
            <p:ph type="body" sz="quarter" idx="27"/>
          </p:nvPr>
        </p:nvSpPr>
        <p:spPr>
          <a:xfrm>
            <a:off x="609600" y="1769402"/>
            <a:ext cx="5256213" cy="44805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17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228600" indent="-2286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95300" lvl="1" indent="-304800" algn="l">
              <a:lnSpc>
                <a:spcPct val="117000"/>
              </a:lnSpc>
              <a:buClr>
                <a:srgbClr val="E46C0A"/>
              </a:buClr>
              <a:buChar char="•"/>
            </a:pPr>
            <a:r>
              <a:rPr lang="en-US" sz="2400" b="0" i="0" u="none" strike="noStrike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二级</a:t>
            </a:r>
            <a:endParaRPr lang="en-US" sz="2400" b="0" i="0" u="none" strike="noStrike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40080" lvl="2" indent="-2540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06450" lvl="3" indent="-2286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998855" lvl="4" indent="-2286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AutoShape 9"/>
          <p:cNvSpPr/>
          <p:nvPr>
            <p:ph type="body" sz="quarter" idx="28"/>
          </p:nvPr>
        </p:nvSpPr>
        <p:spPr>
          <a:xfrm>
            <a:off x="6326188" y="1769401"/>
            <a:ext cx="5256213" cy="44805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17000"/>
              </a:lnSpc>
              <a:defRPr sz="18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228600" indent="-2286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95300" lvl="1" indent="-304800" algn="l">
              <a:lnSpc>
                <a:spcPct val="117000"/>
              </a:lnSpc>
              <a:buClr>
                <a:srgbClr val="E46C0A"/>
              </a:buClr>
              <a:buChar char="•"/>
            </a:pPr>
            <a:r>
              <a:rPr lang="en-US" sz="2400" b="0" i="0" u="none" strike="noStrike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二级</a:t>
            </a:r>
            <a:endParaRPr lang="en-US" sz="2400" b="0" i="0" u="none" strike="noStrike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40080" lvl="2" indent="-2540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06450" lvl="3" indent="-2286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998855" lvl="4" indent="-2286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AutoShape 10"/>
          <p:cNvSpPr/>
          <p:nvPr>
            <p:ph type="body" sz="quarter" idx="29"/>
          </p:nvPr>
        </p:nvSpPr>
        <p:spPr>
          <a:xfrm>
            <a:off x="609600" y="1118718"/>
            <a:ext cx="5256213" cy="5345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17000"/>
              </a:lnSpc>
              <a:defRPr sz="2600" b="1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17000"/>
              </a:lnSpc>
            </a:pPr>
            <a:r>
              <a:rPr lang="en-US" sz="26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6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ph type="body" sz="quarter" idx="30"/>
          </p:nvPr>
        </p:nvSpPr>
        <p:spPr>
          <a:xfrm>
            <a:off x="6326187" y="1115453"/>
            <a:ext cx="5256213" cy="5345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17000"/>
              </a:lnSpc>
              <a:defRPr sz="2600" b="1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17000"/>
              </a:lnSpc>
            </a:pPr>
            <a:r>
              <a:rPr lang="en-US" sz="2600" b="1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600" b="1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AutoShape 12"/>
          <p:cNvSpPr/>
          <p:nvPr>
            <p:ph type="body" sz="quarter" idx="31" hasCustomPrompt="1"/>
          </p:nvPr>
        </p:nvSpPr>
        <p:spPr>
          <a:xfrm>
            <a:off x="609600" y="51603"/>
            <a:ext cx="7807543" cy="86279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3200" b="1" i="0" u="none" strike="noStrike" spc="0">
                <a:solidFill>
                  <a:srgbClr val="FFFF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200" b="1" i="0" u="none" strike="noStrike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1_仅标题-T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12571"/>
          <a:stretch>
            <a:fillRect/>
          </a:stretch>
        </p:blipFill>
        <p:spPr>
          <a:xfrm>
            <a:off x="0" y="3267"/>
            <a:ext cx="12192000" cy="99930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12255" y="149526"/>
            <a:ext cx="2148516" cy="70025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1798023" y="6433456"/>
            <a:ext cx="8595956" cy="30008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A6A6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网络科学与网络空间研究院  Institute for Network Sciences and Cyberspace</a:t>
            </a:r>
            <a:endParaRPr lang="en-US" sz="1100"/>
          </a:p>
        </p:txBody>
      </p:sp>
      <p:sp>
        <p:nvSpPr>
          <p:cNvPr id="5" name="AutoShape 5"/>
          <p:cNvSpPr/>
          <p:nvPr>
            <p:ph type="body" sz="quarter" idx="32" hasCustomPrompt="1"/>
          </p:nvPr>
        </p:nvSpPr>
        <p:spPr>
          <a:xfrm>
            <a:off x="609600" y="51603"/>
            <a:ext cx="7807543" cy="86279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3200" b="1" i="0" u="none" strike="noStrike" spc="0">
                <a:solidFill>
                  <a:srgbClr val="FFFF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200" b="1" i="0" u="none" strike="noStrike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3"/>
          </p:nvPr>
        </p:nvSpPr>
        <p:spPr>
          <a:xfrm>
            <a:off x="609600" y="6453965"/>
            <a:ext cx="2844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7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body" sz="quarter" idx="34" hasCustomPrompt="1"/>
          </p:nvPr>
        </p:nvSpPr>
        <p:spPr>
          <a:xfrm>
            <a:off x="4165600" y="6453965"/>
            <a:ext cx="3860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7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7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7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35"/>
          </p:nvPr>
        </p:nvSpPr>
        <p:spPr>
          <a:xfrm>
            <a:off x="8737600" y="6453965"/>
            <a:ext cx="2844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ts val="1240"/>
              </a:lnSpc>
              <a:defRPr sz="7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24978" t="16693"/>
          <a:stretch>
            <a:fillRect/>
          </a:stretch>
        </p:blipFill>
        <p:spPr>
          <a:xfrm>
            <a:off x="0" y="2"/>
            <a:ext cx="12192000" cy="685800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6"/>
          </p:nvPr>
        </p:nvSpPr>
        <p:spPr>
          <a:xfrm>
            <a:off x="609600" y="6453965"/>
            <a:ext cx="2844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7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3" name="AutoShape 3"/>
          <p:cNvSpPr/>
          <p:nvPr>
            <p:ph type="body" sz="quarter" idx="37" hasCustomPrompt="1"/>
          </p:nvPr>
        </p:nvSpPr>
        <p:spPr>
          <a:xfrm>
            <a:off x="4165600" y="6453965"/>
            <a:ext cx="3860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7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7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7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AutoShape 4"/>
          <p:cNvSpPr/>
          <p:nvPr>
            <p:ph type="body" sz="quarter" idx="38"/>
          </p:nvPr>
        </p:nvSpPr>
        <p:spPr>
          <a:xfrm>
            <a:off x="8737600" y="6453965"/>
            <a:ext cx="2844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ts val="1240"/>
              </a:lnSpc>
              <a:defRPr sz="7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24978" t="16693"/>
          <a:stretch>
            <a:fillRect/>
          </a:stretch>
        </p:blipFill>
        <p:spPr>
          <a:xfrm>
            <a:off x="0" y="2"/>
            <a:ext cx="12192000" cy="685800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6" name="Freeform 6"/>
          <p:cNvSpPr/>
          <p:nvPr/>
        </p:nvSpPr>
        <p:spPr>
          <a:xfrm>
            <a:off x="0" y="0"/>
            <a:ext cx="6095999" cy="6857999"/>
          </a:xfrm>
          <a:custGeom>
            <a:avLst/>
            <a:gdLst/>
            <a:ahLst/>
            <a:cxnLst/>
            <a:rect l="l" t="t" r="r" b="b"/>
            <a:pathLst>
              <a:path w="6095999" h="6857999">
                <a:moveTo>
                  <a:pt x="0" y="6857999"/>
                </a:moveTo>
                <a:lnTo>
                  <a:pt x="6095999" y="6857999"/>
                </a:lnTo>
                <a:lnTo>
                  <a:pt x="60959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7474F">
              <a:alpha val="100000"/>
            </a:srgbClr>
          </a:solidFill>
          <a:ln w="12700">
            <a:noFill/>
            <a:prstDash val="solid"/>
          </a:ln>
        </p:spPr>
        <p:txBody>
          <a:bodyPr lIns="0" tIns="0" rIns="0" bIns="0" rtlCol="0" anchor="t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>
            <p:ph type="body" sz="quarter" idx="39"/>
          </p:nvPr>
        </p:nvSpPr>
        <p:spPr>
          <a:xfrm>
            <a:off x="1021419" y="2209800"/>
            <a:ext cx="4053163" cy="213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ctr">
              <a:lnSpc>
                <a:spcPct val="117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17000"/>
              </a:lnSpc>
            </a:pPr>
            <a:r>
              <a:rPr lang="en-US" sz="3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32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AutoShape 8"/>
          <p:cNvSpPr/>
          <p:nvPr>
            <p:ph type="body" sz="quarter" idx="40"/>
          </p:nvPr>
        </p:nvSpPr>
        <p:spPr>
          <a:xfrm>
            <a:off x="6334126" y="396875"/>
            <a:ext cx="5738813" cy="4997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t"/>
          <a:lstStyle>
            <a:lvl1pPr algn="l">
              <a:lnSpc>
                <a:spcPct val="150000"/>
              </a:lnSpc>
              <a:defRPr sz="26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30200" indent="-330200" algn="l">
              <a:lnSpc>
                <a:spcPct val="150000"/>
              </a:lnSpc>
              <a:buClr>
                <a:srgbClr val="000000"/>
              </a:buClr>
              <a:buChar char="•"/>
            </a:pPr>
            <a:r>
              <a:rPr lang="en-US" sz="2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6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95300" lvl="1" indent="-304800" algn="l">
              <a:lnSpc>
                <a:spcPct val="150000"/>
              </a:lnSpc>
              <a:buClr>
                <a:srgbClr val="E46C0A"/>
              </a:buClr>
              <a:buChar char="•"/>
            </a:pPr>
            <a:r>
              <a:rPr lang="en-US" sz="2400" b="0" i="0" u="none" strike="noStrike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二级</a:t>
            </a:r>
            <a:endParaRPr lang="en-US" sz="2400" b="0" i="0" u="none" strike="noStrike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40080" lvl="2" indent="-254000" algn="l">
              <a:lnSpc>
                <a:spcPct val="150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06450" lvl="3" indent="-228600" algn="l">
              <a:lnSpc>
                <a:spcPct val="150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四级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998855" lvl="4" indent="-228600" algn="l">
              <a:lnSpc>
                <a:spcPct val="150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五级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1" hasCustomPrompt="1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0000" tIns="46800" rIns="90000" bIns="46800" anchor="ctr"/>
          <a:lstStyle>
            <a:lvl1pPr algn="l">
              <a:lnSpc>
                <a:spcPct val="100000"/>
              </a:lnSpc>
              <a:defRPr sz="3200" b="1" i="0" u="none" strike="noStrike" spc="0">
                <a:solidFill>
                  <a:srgbClr val="FFFF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2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200" b="1" i="0" u="none" strike="noStrike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42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0000" tIns="46800" rIns="90000" bIns="46800" anchor="t"/>
          <a:lstStyle>
            <a:lvl1pPr algn="l">
              <a:lnSpc>
                <a:spcPct val="117000"/>
              </a:lnSpc>
              <a:defRPr sz="2600" b="0" i="0" u="none" strike="noStrike" spc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30200" indent="-3302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26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单击此处编辑母版文本样式</a:t>
            </a:r>
            <a:endParaRPr lang="en-US" sz="26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495300" lvl="1" indent="-304800" algn="l">
              <a:lnSpc>
                <a:spcPct val="117000"/>
              </a:lnSpc>
              <a:buClr>
                <a:srgbClr val="E46C0A"/>
              </a:buClr>
              <a:buChar char="•"/>
            </a:pPr>
            <a:r>
              <a:rPr lang="en-US" sz="2400" b="0" i="0" u="none" strike="noStrike">
                <a:solidFill>
                  <a:srgbClr val="E46C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>
              <a:solidFill>
                <a:srgbClr val="E46C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40080" lvl="2" indent="-2540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06450" lvl="3" indent="-2286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998855" lvl="4" indent="-228600" algn="l">
              <a:lnSpc>
                <a:spcPct val="117000"/>
              </a:lnSpc>
              <a:buClr>
                <a:srgbClr val="000000"/>
              </a:buClr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800" b="0" i="0" u="none" strike="noStrik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AutoShape 4"/>
          <p:cNvSpPr/>
          <p:nvPr>
            <p:ph type="body" sz="quarter" idx="43"/>
          </p:nvPr>
        </p:nvSpPr>
        <p:spPr>
          <a:xfrm>
            <a:off x="609600" y="6453965"/>
            <a:ext cx="2844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l">
              <a:lnSpc>
                <a:spcPct val="100000"/>
              </a:lnSpc>
              <a:defRPr sz="7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l"/>
          </a:p>
        </p:txBody>
      </p:sp>
      <p:sp>
        <p:nvSpPr>
          <p:cNvPr id="5" name="AutoShape 5"/>
          <p:cNvSpPr/>
          <p:nvPr>
            <p:ph type="body" sz="quarter" idx="44" hasCustomPrompt="1"/>
          </p:nvPr>
        </p:nvSpPr>
        <p:spPr>
          <a:xfrm>
            <a:off x="4165600" y="6453965"/>
            <a:ext cx="3860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lIns="91440" tIns="45720" rIns="91440" bIns="45720" anchor="ctr"/>
          <a:lstStyle>
            <a:lvl1pPr algn="ctr">
              <a:lnSpc>
                <a:spcPct val="100000"/>
              </a:lnSpc>
              <a:defRPr sz="7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700" b="0" i="0" u="none" strike="noStrike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页脚</a:t>
            </a:r>
            <a:endParaRPr lang="en-US" sz="700" b="0" i="0" u="none" strike="noStrike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>
            <p:ph type="body" sz="quarter" idx="45"/>
          </p:nvPr>
        </p:nvSpPr>
        <p:spPr>
          <a:xfrm>
            <a:off x="8737600" y="6453965"/>
            <a:ext cx="2844800" cy="2675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anchor="ctr"/>
          <a:lstStyle>
            <a:lvl1pPr algn="r">
              <a:lnSpc>
                <a:spcPct val="100000"/>
              </a:lnSpc>
              <a:defRPr sz="700" b="0" i="0" u="none" strike="noStrike" spc="0">
                <a:solidFill>
                  <a:srgbClr val="898989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image" Target="../media/image3.jpeg"/><Relationship Id="rId12" Type="http://schemas.openxmlformats.org/officeDocument/2006/relationships/image" Target="../media/image2.png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1"/>
          <p:cNvPicPr>
            <a:picLocks noChangeAspect="1"/>
          </p:cNvPicPr>
          <p:nvPr/>
        </p:nvPicPr>
        <p:blipFill>
          <a:blip r:embed="rId11"/>
          <a:srcRect b="12571"/>
          <a:stretch>
            <a:fillRect/>
          </a:stretch>
        </p:blipFill>
        <p:spPr>
          <a:xfrm>
            <a:off x="0" y="3267"/>
            <a:ext cx="12192000" cy="99930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8417143" y="151161"/>
            <a:ext cx="2148516" cy="70025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10715880" y="203453"/>
            <a:ext cx="1428509" cy="5078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t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方正粗黑宋简体" panose="02000000000000000000" charset="-122"/>
              </a:rPr>
              <a:t>网络研究院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INSC</a:t>
            </a:r>
            <a:r>
              <a:rPr lang="en-US" sz="1300" b="0" i="0" u="none" strike="noStrike">
                <a:solidFill>
                  <a:srgbClr val="FFFFFF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  <a:sym typeface="方正粗黑宋简体" panose="02000000000000000000" charset="-122"/>
              </a:rPr>
              <a:t> </a:t>
            </a:r>
            <a:endParaRPr lang="en-US" sz="1300" b="0" i="0" u="none" strike="noStrike">
              <a:solidFill>
                <a:srgbClr val="FFFFFF"/>
              </a:solidFill>
              <a:latin typeface="方正粗黑宋简体" panose="02000000000000000000" charset="-122"/>
              <a:ea typeface="方正粗黑宋简体" panose="02000000000000000000" charset="-122"/>
              <a:cs typeface="方正粗黑宋简体" panose="02000000000000000000" charset="-122"/>
              <a:sym typeface="方正粗黑宋简体" panose="020000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>
            <a:off x="10713721" y="288222"/>
            <a:ext cx="10887" cy="495551"/>
          </a:xfrm>
          <a:prstGeom prst="line">
            <a:avLst/>
          </a:prstGeom>
          <a:noFill/>
          <a:ln w="25400" cap="flat">
            <a:solidFill>
              <a:srgbClr val="FFFFFF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00000" cy="860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50000"/>
            <a:ext cx="3600000" cy="6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组会汇报 · 6FRP 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200000"/>
            <a:ext cx="11000000" cy="10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6600" b="1" i="0">
                <a:solidFill>
                  <a:srgbClr val="1F3A68"/>
                </a:solidFill>
                <a:latin typeface="微软雅黑"/>
              </a:rPr>
              <a:t>Heimdall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2100000"/>
            <a:ext cx="11000000" cy="7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2200" b="0" i="0">
                <a:solidFill>
                  <a:srgbClr val="E35D00"/>
                </a:solidFill>
                <a:latin typeface="微软雅黑"/>
              </a:rPr>
              <a:t>Dual-Scan State-Space Modeling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500000"/>
            <a:ext cx="11000000" cy="7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2200" b="1" i="0">
                <a:solidFill>
                  <a:srgbClr val="E35D00"/>
                </a:solidFill>
                <a:latin typeface="微软雅黑"/>
              </a:rPr>
              <a:t>Closed-Loop Discovery of IPv6 Fully Responsive Prefixes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3200000"/>
            <a:ext cx="11000000" cy="5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微软雅黑"/>
              </a:rPr>
              <a:t>面向 IEEE ICNP · IPv6 主动测量 × 状态空间模型 × 闭环反馈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6000" y="4000000"/>
            <a:ext cx="3500000" cy="10000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000" y="4000000"/>
            <a:ext cx="3500000" cy="10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双向扫描 (Dual-Scan)
对齐位轴 + 同AS样本轴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6000" y="4000000"/>
            <a:ext cx="3500000" cy="1000000"/>
          </a:xfrm>
          <a:prstGeom prst="round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6000" y="4000000"/>
            <a:ext cx="3500000" cy="10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三阶段掩码填充
线性时间 · 非自回归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000" y="4000000"/>
            <a:ext cx="3500000" cy="1000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000" y="4000000"/>
            <a:ext cx="3500000" cy="10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闭环在线反馈
APD结果 → 在线微调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0000" y="5350000"/>
            <a:ext cx="11000000" cy="65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000" y="5350000"/>
            <a:ext cx="10800000" cy="6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800" b="1" i="0">
                <a:solidFill>
                  <a:srgbClr val="1F3A68"/>
                </a:solidFill>
                <a:latin typeface="微软雅黑"/>
              </a:rPr>
              <a:t>1.9× 发现吞吐  ·  1.2× AS 覆盖  ·  214K 种子 / 299 AS  ·  1.7× 训练加速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0000"/>
            <a:ext cx="12192000" cy="5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000" y="6300000"/>
            <a:ext cx="11000000" cy="558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</a:rPr>
              <a:t>分享人：谷雨宸    ·    组会分享    ·    2026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汇报大纲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Outline    02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0000" y="1600000"/>
            <a:ext cx="700000" cy="5500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600000"/>
            <a:ext cx="7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0000" y="1600000"/>
            <a:ext cx="45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微软雅黑"/>
              </a:rPr>
              <a:t>背景与动机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00000" y="1600000"/>
            <a:ext cx="63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微软雅黑"/>
              </a:rPr>
              <a:t>IPv6 主动测量 · FRP 的危害 · 已有方案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000" y="2250000"/>
            <a:ext cx="700000" cy="550000"/>
          </a:xfrm>
          <a:prstGeom prst="round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000" y="2250000"/>
            <a:ext cx="7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0000" y="2250000"/>
            <a:ext cx="45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微软雅黑"/>
              </a:rPr>
              <a:t>问题分析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0000" y="2250000"/>
            <a:ext cx="63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微软雅黑"/>
              </a:rPr>
              <a:t>Pattern Entropy · Gungnir 的 3 大局限 (L1/L2/L3)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0000" y="2900000"/>
            <a:ext cx="700000" cy="55000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000" y="2900000"/>
            <a:ext cx="7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0000" y="2900000"/>
            <a:ext cx="45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微软雅黑"/>
              </a:rPr>
              <a:t>Heimdall 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0000" y="2900000"/>
            <a:ext cx="63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微软雅黑"/>
              </a:rPr>
              <a:t>Dual-Scan HMamba · 层次化 MLM · 三阶段推理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000" y="3550000"/>
            <a:ext cx="700000" cy="550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0000" y="3550000"/>
            <a:ext cx="7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0000" y="3550000"/>
            <a:ext cx="45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微软雅黑"/>
              </a:rPr>
              <a:t>闭环在线扫描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0000" y="3550000"/>
            <a:ext cx="63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微软雅黑"/>
              </a:rPr>
              <a:t>双向 SeedFilter · 在线微调 · 自适应温度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0000" y="4200000"/>
            <a:ext cx="700000" cy="550000"/>
          </a:xfrm>
          <a:prstGeom prst="roundRect">
            <a:avLst/>
          </a:prstGeom>
          <a:solidFill>
            <a:srgbClr val="6A3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0000" y="4200000"/>
            <a:ext cx="7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0000" y="4200000"/>
            <a:ext cx="45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微软雅黑"/>
              </a:rPr>
              <a:t>实验评估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0000" y="4200000"/>
            <a:ext cx="63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微软雅黑"/>
              </a:rPr>
              <a:t>端到端发现 · 时间 · 闭环增益 · 消融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0000" y="4850000"/>
            <a:ext cx="700000" cy="550000"/>
          </a:xfrm>
          <a:prstGeom prst="round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0000" y="4850000"/>
            <a:ext cx="7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0000" y="4850000"/>
            <a:ext cx="45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微软雅黑"/>
              </a:rPr>
              <a:t>长期观测发现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0000" y="4850000"/>
            <a:ext cx="63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微软雅黑"/>
              </a:rPr>
              <a:t>3 个月多协议扫描 · 集中度 / 服务错配 / 安全信号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0000" y="5500000"/>
            <a:ext cx="700000" cy="550000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0000" y="5500000"/>
            <a:ext cx="7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0000" y="5500000"/>
            <a:ext cx="45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微软雅黑"/>
              </a:rPr>
              <a:t>新学期工作展望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0000" y="5500000"/>
            <a:ext cx="6300000" cy="5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微软雅黑"/>
              </a:rPr>
              <a:t>投稿 · 系统开源 · 后续方向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背景 · IPv6 主动测量与 FRP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01 · Background    03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000" y="1550000"/>
            <a:ext cx="5500000" cy="2200000"/>
          </a:xfrm>
          <a:prstGeom prst="roundRect">
            <a:avLst/>
          </a:prstGeom>
          <a:solidFill>
            <a:srgbClr val="F4F6FB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1650000"/>
            <a:ext cx="5300000" cy="5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800" b="1" i="0">
                <a:solidFill>
                  <a:srgbClr val="1F3A68"/>
                </a:solidFill>
                <a:latin typeface="微软雅黑"/>
              </a:rPr>
              <a:t>从 IPv4 到 IPv6：扫描范式的根本转变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2200000"/>
            <a:ext cx="53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微软雅黑"/>
              </a:rPr>
              <a:t>• IPv4：2³² 空间，ZMap 40 分钟扫全网 (穷举可行)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2480000"/>
            <a:ext cx="53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微软雅黑"/>
              </a:rPr>
              <a:t>• IPv6：2¹²⁸ 空间，物理上无法穷举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2760000"/>
            <a:ext cx="53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E35D00"/>
                </a:solidFill>
                <a:latin typeface="微软雅黑"/>
              </a:rPr>
              <a:t>• 必须依赖 Target Generation Algorithm (TGA)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3040000"/>
            <a:ext cx="53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微软雅黑"/>
              </a:rPr>
              <a:t>   —— 6Forest / 6Hit / 6Graph / DET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3320000"/>
            <a:ext cx="53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C62828"/>
                </a:solidFill>
                <a:latin typeface="微软雅黑"/>
              </a:rPr>
              <a:t>• TGA 的一切都取决于种子 (seed) 质量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0" y="1550000"/>
            <a:ext cx="5600000" cy="2200000"/>
          </a:xfrm>
          <a:prstGeom prst="roundRect">
            <a:avLst/>
          </a:prstGeom>
          <a:solidFill>
            <a:srgbClr val="F4F6FB"/>
          </a:solidFill>
          <a:ln>
            <a:solidFill>
              <a:srgbClr val="E3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1650000"/>
            <a:ext cx="5400000" cy="5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800" b="1" i="0">
                <a:solidFill>
                  <a:srgbClr val="E35D00"/>
                </a:solidFill>
                <a:latin typeface="微软雅黑"/>
              </a:rPr>
              <a:t>Fully Responsive Prefix (FRP)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2150000"/>
            <a:ext cx="5400000" cy="26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微软雅黑"/>
              </a:rPr>
              <a:t>• 定义：前缀内任意地址探测都返回响应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0" y="2410000"/>
            <a:ext cx="5400000" cy="26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微软雅黑"/>
              </a:rPr>
              <a:t>• 100% probe-reply rate（但未必是不同主机）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2670000"/>
            <a:ext cx="5400000" cy="26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微软雅黑"/>
              </a:rPr>
              <a:t>• 成因：CDN 负载均衡 / 蜜罐 / NAT 代理池 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000" y="2930000"/>
            <a:ext cx="5400000" cy="26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微软雅黑"/>
              </a:rPr>
              <a:t>        Linux ip_nonlocal_bind sysctl 掩护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190000"/>
            <a:ext cx="5400000" cy="26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C62828"/>
                </a:solidFill>
                <a:latin typeface="微软雅黑"/>
              </a:rPr>
              <a:t>• 危害：污染 TGA 训练、膨胀 hitlist、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000" y="3450000"/>
            <a:ext cx="5400000" cy="26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C62828"/>
                </a:solidFill>
                <a:latin typeface="微软雅黑"/>
              </a:rPr>
              <a:t>       浪费探测预算、误导拓扑推断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0000" y="3900000"/>
            <a:ext cx="11400000" cy="2400000"/>
          </a:xfrm>
          <a:prstGeom prst="rect">
            <a:avLst/>
          </a:prstGeom>
          <a:solidFill>
            <a:srgbClr val="FFFFFF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4000000"/>
            <a:ext cx="11200000" cy="5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800" b="1" i="0">
                <a:solidFill>
                  <a:srgbClr val="1F3A68"/>
                </a:solidFill>
                <a:latin typeface="微软雅黑"/>
              </a:rPr>
              <a:t>▶ 为什么 FRP 发现是 IPv6 主动测量的关键前置任务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000" y="4550000"/>
            <a:ext cx="11200000" cy="36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微软雅黑"/>
              </a:rPr>
              <a:t>① 从种子集中剔除 FRP，可使 6Forest / 6Graph 等 TGA 的命中率提升数倍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000" y="4950000"/>
            <a:ext cx="11200000" cy="36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微软雅黑"/>
              </a:rPr>
              <a:t>② FRP 本身即安全研究对象：负载均衡拓扑、蜜罐部署、代理池 IP 池等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00" y="5350000"/>
            <a:ext cx="11200000" cy="36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微软雅黑"/>
              </a:rPr>
              <a:t>③ 若不识别 FRP，主动扫描的『发现』大量是重复响应，浪费探测预算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000" y="5750000"/>
            <a:ext cx="11200000" cy="36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微软雅黑"/>
              </a:rPr>
              <a:t>④ 已成为 IMC / SIGCOMM / ICNP 等测量顶会持续关注的方向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识别并剔除 FRP，是所有下游 IPv6 主动测量任务的基础前置步骤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相关工作 · FRP 发现三代技术路线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01 · Related Work    04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000" y="1500000"/>
            <a:ext cx="3700000" cy="4600000"/>
          </a:xfrm>
          <a:prstGeom prst="round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0000" y="1500000"/>
            <a:ext cx="3700000" cy="70000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1500000"/>
            <a:ext cx="3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① MAPD / APD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1900000"/>
            <a:ext cx="3700000" cy="3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微软雅黑"/>
              </a:rPr>
              <a:t>IMC 2018 · Gasser et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2350000"/>
            <a:ext cx="35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666666"/>
                </a:solidFill>
                <a:latin typeface="微软雅黑"/>
              </a:rPr>
              <a:t>▶ 核心方法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2670000"/>
            <a:ext cx="3500000" cy="9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枚举固定长度 (通常 /48) 的所有 BGP 前缀，
每个前缀随机采 16 个地址做 APD 探测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3750000"/>
            <a:ext cx="35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微软雅黑"/>
              </a:rPr>
              <a:t>✅ 优点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4070000"/>
            <a:ext cx="3500000" cy="6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简单可靠 · 长度小的时候完备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" y="4800000"/>
            <a:ext cx="35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微软雅黑"/>
              </a:rPr>
              <a:t>❌ 局限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000" y="5120000"/>
            <a:ext cx="3500000" cy="6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组合爆炸 · 无法发现任意粒度 FRP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0000" y="1500000"/>
            <a:ext cx="3700000" cy="460000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0000" y="1500000"/>
            <a:ext cx="3700000" cy="70000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0000" y="1500000"/>
            <a:ext cx="3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② Luori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0000" y="1900000"/>
            <a:ext cx="3700000" cy="3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微软雅黑"/>
              </a:rPr>
              <a:t>IEEE ICNP 2024 · Cheng et 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000" y="2350000"/>
            <a:ext cx="35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微软雅黑"/>
              </a:rPr>
              <a:t>▶ 核心方法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000" y="2670000"/>
            <a:ext cx="3500000" cy="9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MCTS 蒙特卡洛树搜索 IPv6 地址树
逐 nibble 展开 → 每协议/端口一棵树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000" y="3750000"/>
            <a:ext cx="35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微软雅黑"/>
              </a:rPr>
              <a:t>✅ 优点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000" y="4070000"/>
            <a:ext cx="3500000" cy="6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支持任意粒度 · 显式建模空间探索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000" y="4800000"/>
            <a:ext cx="35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微软雅黑"/>
              </a:rPr>
              <a:t>❌ 局限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000" y="5120000"/>
            <a:ext cx="3500000" cy="6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长度耦合 · 多协议扩展成本 = N×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0000" y="1500000"/>
            <a:ext cx="3700000" cy="4600000"/>
          </a:xfrm>
          <a:prstGeom prst="roundRect">
            <a:avLst/>
          </a:prstGeom>
          <a:solidFill>
            <a:srgbClr val="FFFFFF"/>
          </a:solidFill>
          <a:ln>
            <a:solidFill>
              <a:srgbClr val="E3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60000" y="1500000"/>
            <a:ext cx="3700000" cy="700000"/>
          </a:xfrm>
          <a:prstGeom prst="round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0000" y="1500000"/>
            <a:ext cx="3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</a:rPr>
              <a:t>③ Gungnir (SOTA)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0000" y="1900000"/>
            <a:ext cx="3700000" cy="3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微软雅黑"/>
              </a:rPr>
              <a:t>IEEE ICNP 2025 · Wei et 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0000" y="2350000"/>
            <a:ext cx="35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E35D00"/>
                </a:solidFill>
                <a:latin typeface="微软雅黑"/>
              </a:rPr>
              <a:t>▶ 核心方法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0000" y="2670000"/>
            <a:ext cx="3500000" cy="9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自回归 Transformer 生成 128 bit
条件：AS / ORG / Category / Proto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0000" y="3750000"/>
            <a:ext cx="35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微软雅黑"/>
              </a:rPr>
              <a:t>✅ 优点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0000" y="4070000"/>
            <a:ext cx="3500000" cy="6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27× 快于 Luori · 4.2× 覆盖 · 首个生成式方案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0000" y="4800000"/>
            <a:ext cx="35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微软雅黑"/>
              </a:rPr>
              <a:t>❌ 局限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0000" y="5120000"/>
            <a:ext cx="3500000" cy="6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单轴注意力 · O(L²) · 离线开环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Gungnir 是当前 SOTA，但仍留有 3 个未开发的机会 —— 这正是 Heimdall 的切入点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动机 · Gungnir 尚未解决的 3 大问题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02 · Motivation    05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0000" y="1500000"/>
            <a:ext cx="114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微软雅黑"/>
              </a:rPr>
              <a:t>► 我们观察到当前 SOTA 仍有以下三处结构性欠缺：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0000" y="2050000"/>
            <a:ext cx="3700000" cy="3800000"/>
          </a:xfrm>
          <a:prstGeom prst="roundRect">
            <a:avLst/>
          </a:prstGeom>
          <a:solidFill>
            <a:srgbClr val="FFFFFF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0000" y="2200000"/>
            <a:ext cx="700000" cy="7000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2200000"/>
            <a:ext cx="700000" cy="7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</a:rP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0000" y="2200000"/>
            <a:ext cx="2750000" cy="7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500" b="1" i="0">
                <a:solidFill>
                  <a:srgbClr val="1F3A68"/>
                </a:solidFill>
                <a:latin typeface="微软雅黑"/>
              </a:rPr>
              <a:t>同 AS 内的 FRP 相关信号被浪费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000" y="3050000"/>
            <a:ext cx="3400000" cy="265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同一 AS 的 FRP 通常共享 nibble 分配 / 前缀长度分布，
但 Transformer 只在一条前缀内做 self-attention，
无法在训练时看到同 AS 的其他 FRP —— 跨样本信号丢失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0000" y="2050000"/>
            <a:ext cx="3700000" cy="3800000"/>
          </a:xfrm>
          <a:prstGeom prst="roundRect">
            <a:avLst/>
          </a:prstGeom>
          <a:solidFill>
            <a:srgbClr val="FFFFFF"/>
          </a:solidFill>
          <a:ln>
            <a:solidFill>
              <a:srgbClr val="E3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000" y="2200000"/>
            <a:ext cx="700000" cy="700000"/>
          </a:xfrm>
          <a:prstGeom prst="round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000" y="2200000"/>
            <a:ext cx="700000" cy="7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</a:rP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000" y="2200000"/>
            <a:ext cx="2750000" cy="7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500" b="1" i="0">
                <a:solidFill>
                  <a:srgbClr val="E35D00"/>
                </a:solidFill>
                <a:latin typeface="微软雅黑"/>
              </a:rPr>
              <a:t>自注意力二次复杂度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0000" y="3050000"/>
            <a:ext cx="3400000" cy="265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Attention 是 O(L²) —— 128 bit + 多字段元数据的长序列下,
预训练与推理都被拖慢；
GPU 内存也难以支撑更长上下文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0000" y="2050000"/>
            <a:ext cx="3700000" cy="380000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60000" y="2200000"/>
            <a:ext cx="700000" cy="700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0000" y="2200000"/>
            <a:ext cx="700000" cy="7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微软雅黑"/>
              </a:rPr>
              <a:t>L3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0000" y="2200000"/>
            <a:ext cx="2750000" cy="7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微软雅黑"/>
              </a:rPr>
              <a:t>生成是开环的，无法在线纠错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0000" y="3050000"/>
            <a:ext cx="3400000" cy="265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Gungnir 训练完之后一次性生成全部候选,
APD 探测反馈只用于事后粒度修正 (granularity)；
错误的前缀模式会反复重复生成，直到人工重灌种子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L1 → 加入 sample-axis 扫描 ｜ L2 → 用 Mamba SSM 取代 Attention ｜ L3 → 生成变成闭环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动机数据 · 同 AS 内 FRP 高度聚类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02 · Motivation    06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550000"/>
            <a:ext cx="6500000" cy="37241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0000" y="5334180"/>
            <a:ext cx="65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微软雅黑"/>
              </a:rPr>
              <a:t>Fig · 214K 种子 FRP 上按不同维度切片后的 pattern entropy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00000" y="1550000"/>
            <a:ext cx="4700000" cy="4700000"/>
          </a:xfrm>
          <a:prstGeom prst="roundRect">
            <a:avLst/>
          </a:prstGeom>
          <a:solidFill>
            <a:srgbClr val="F4F6FB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50000" y="1650000"/>
            <a:ext cx="4400000" cy="5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微软雅黑"/>
              </a:rPr>
              <a:t>关键观察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0000" y="2150000"/>
            <a:ext cx="44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微软雅黑"/>
              </a:rPr>
              <a:t>• 全体 FRP 的 pattern entropy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0000" y="2470000"/>
            <a:ext cx="44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  <a:latin typeface="微软雅黑"/>
              </a:rPr>
              <a:t>  已远低于 uniform 的 log₂ 理论上限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0000" y="2910000"/>
            <a:ext cx="44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微软雅黑"/>
              </a:rPr>
              <a:t>• 按 CATEGORY / ORG / AS 切片后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0000" y="3230000"/>
            <a:ext cx="44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1" i="0">
                <a:solidFill>
                  <a:srgbClr val="E35D00"/>
                </a:solidFill>
                <a:latin typeface="微软雅黑"/>
              </a:rPr>
              <a:t>  熵进一步下降，AS 维度下降最多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0000" y="3670000"/>
            <a:ext cx="44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微软雅黑"/>
              </a:rPr>
              <a:t>• 说明：同 AS 内的 FRP 有极强的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0000" y="3990000"/>
            <a:ext cx="44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微软雅黑"/>
              </a:rPr>
              <a:t>  『共享模式』—— 是可利用的结构信息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0000" y="4430000"/>
            <a:ext cx="44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微软雅黑"/>
              </a:rPr>
              <a:t>• Transformer 单条前缀训练 → 看不到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0000" y="4750000"/>
            <a:ext cx="44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微软雅黑"/>
              </a:rPr>
              <a:t>  这条信号；必须加 sample-axis 扫描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同 AS 内 FRP 高度聚类 —— 这是 Dual-Scan 的直接经验依据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Heimdall · 三大关键设计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03 · Design    07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000" y="1550000"/>
            <a:ext cx="11400000" cy="1500000"/>
          </a:xfrm>
          <a:prstGeom prst="roundRect">
            <a:avLst/>
          </a:prstGeom>
          <a:solidFill>
            <a:srgbClr val="FFFFFF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0000" y="1650000"/>
            <a:ext cx="1000000" cy="13000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1650000"/>
            <a:ext cx="1000000" cy="13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0000" y="1650000"/>
            <a:ext cx="6500000" cy="5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2000" b="1" i="0">
                <a:solidFill>
                  <a:srgbClr val="1F3A68"/>
                </a:solidFill>
                <a:latin typeface="微软雅黑"/>
              </a:rPr>
              <a:t>Dual-Scan Hierarchical Mamba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0000" y="1700000"/>
            <a:ext cx="33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r"/>
            <a:r>
              <a:rPr sz="1300" b="0" i="1">
                <a:solidFill>
                  <a:srgbClr val="666666"/>
                </a:solidFill>
                <a:latin typeface="微软雅黑"/>
              </a:rPr>
              <a:t>◆ 解决 L1 &amp; 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0000" y="2150000"/>
            <a:ext cx="10000000" cy="8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Outer scan：沿 128 bit 位轴 (within-prefix)
• Inner scan：沿同 AS 样本轴 (cross-prefix)
• AS-conditioned gate 融合两个扫描
• Mamba S6 状态空间模型 → O(L) 线性复杂度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000" y="3200000"/>
            <a:ext cx="11400000" cy="1500000"/>
          </a:xfrm>
          <a:prstGeom prst="roundRect">
            <a:avLst/>
          </a:prstGeom>
          <a:solidFill>
            <a:srgbClr val="FFFFFF"/>
          </a:solidFill>
          <a:ln>
            <a:solidFill>
              <a:srgbClr val="E3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000" y="3300000"/>
            <a:ext cx="1000000" cy="1300000"/>
          </a:xfrm>
          <a:prstGeom prst="round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3300000"/>
            <a:ext cx="1000000" cy="13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0000" y="3300000"/>
            <a:ext cx="6500000" cy="5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2000" b="1" i="0">
                <a:solidFill>
                  <a:srgbClr val="E35D00"/>
                </a:solidFill>
                <a:latin typeface="微软雅黑"/>
              </a:rPr>
              <a:t>层次化 MLM · 三阶段生成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0000" y="3350000"/>
            <a:ext cx="33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r"/>
            <a:r>
              <a:rPr sz="1300" b="0" i="1">
                <a:solidFill>
                  <a:srgbClr val="666666"/>
                </a:solidFill>
                <a:latin typeface="微软雅黑"/>
              </a:rPr>
              <a:t>◆ 对齐 IPv6 分层地址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0000" y="3800000"/>
            <a:ext cx="10000000" cy="8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Coarse [0,32)  · Medium [32,64) · Fine [64,128)
• 每阶段并行掩码填充 (非自回归)
• 按位 Shannon-Entropy 加权 loss
• 三次前向 vs 128 步自回归 → 更快更准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0000" y="4850000"/>
            <a:ext cx="11400000" cy="150000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0000" y="4950000"/>
            <a:ext cx="1000000" cy="1300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4950000"/>
            <a:ext cx="1000000" cy="13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0000" y="4950000"/>
            <a:ext cx="6500000" cy="5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2000" b="1" i="0">
                <a:solidFill>
                  <a:srgbClr val="2E7D32"/>
                </a:solidFill>
                <a:latin typeface="微软雅黑"/>
              </a:rPr>
              <a:t>闭环在线扫描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0000" y="5000000"/>
            <a:ext cx="33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r"/>
            <a:r>
              <a:rPr sz="1300" b="0" i="1">
                <a:solidFill>
                  <a:srgbClr val="666666"/>
                </a:solidFill>
                <a:latin typeface="微软雅黑"/>
              </a:rPr>
              <a:t>◆ 解决 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0000" y="5450000"/>
            <a:ext cx="10000000" cy="8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双向 SeedFilter：L1 去重 + L2 in-range 丢弃
• 在线微调：APD 阳性/阴性反馈成为新训练信号
• 自适应温度：卡在已知区就升温、发现新贵矿则降温
• Confirmed-FRP 自增：闭环持续扩展 known-set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把 Transformer 自回归 → 换成 Mamba 双扫描；把开环生成 → 换成闭环强化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系统总览 · Semantic → Inference → Closed-Loop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03 · Design    08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000" y="1550000"/>
            <a:ext cx="3700000" cy="7500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0000" y="1550000"/>
            <a:ext cx="3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</a:rPr>
              <a:t>① Semantic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1950000"/>
            <a:ext cx="3700000" cy="3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微软雅黑"/>
              </a:rPr>
              <a:t>DS-HMamba 离线预训练 + 熵加权 MLM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0000" y="1550000"/>
            <a:ext cx="3700000" cy="750000"/>
          </a:xfrm>
          <a:prstGeom prst="round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0000" y="1550000"/>
            <a:ext cx="3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</a:rPr>
              <a:t>② Prefix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0000" y="1950000"/>
            <a:ext cx="3700000" cy="3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微软雅黑"/>
              </a:rPr>
              <a:t>三阶段掩码填充 · BGP 锁定 · 温度控制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0000" y="1550000"/>
            <a:ext cx="3700000" cy="750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0000" y="1550000"/>
            <a:ext cx="3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</a:rPr>
              <a:t>③ Closed-Loop Scanning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0000" y="1950000"/>
            <a:ext cx="3700000" cy="3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微软雅黑"/>
              </a:rPr>
              <a:t>APD 探测 + SeedFilter + 在线微调 + 温度自适应</a:t>
            </a:r>
          </a:p>
        </p:txBody>
      </p:sp>
      <p:pic>
        <p:nvPicPr>
          <p:cNvPr id="15" name="Picture 14" descr="arch_dual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2500000"/>
            <a:ext cx="11400000" cy="290557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0000" y="5465578"/>
            <a:ext cx="114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微软雅黑"/>
              </a:rPr>
              <a:t>Fig · Heimdall 系统架构：Seed Store → DS-HMamba → SeedFilter → APD → Online Fine-tuner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红色虚线 = APD 反馈通道，把开环模型『强化』成闭环强化学习式的迭代系统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DS-HMamba · Dual-Scan Hierarchical Mamba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03 · Design    09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000" y="1550000"/>
            <a:ext cx="5500000" cy="2100000"/>
          </a:xfrm>
          <a:prstGeom prst="roundRect">
            <a:avLst/>
          </a:prstGeom>
          <a:solidFill>
            <a:srgbClr val="FFFFFF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0000" y="1550000"/>
            <a:ext cx="5500000" cy="4500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1550000"/>
            <a:ext cx="5500000" cy="4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Outer Scan · 位轴 (within-prefix)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000" y="2100000"/>
            <a:ext cx="52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沿 128 bit 位轴运行标准 Mamba S6 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000" y="2420000"/>
            <a:ext cx="52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输入依赖的 Δ / A / B / C  → 线性选择扫描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000" y="2740000"/>
            <a:ext cx="52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捕捉 bit-by-bit 位间依赖 (与 Gungnir 同轴)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000" y="3060000"/>
            <a:ext cx="52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复杂度 O(L·D·N)  ← 与 Attention 的 O(L²) 对比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0" y="1550000"/>
            <a:ext cx="5600000" cy="2100000"/>
          </a:xfrm>
          <a:prstGeom prst="roundRect">
            <a:avLst/>
          </a:prstGeom>
          <a:solidFill>
            <a:srgbClr val="FFFFFF"/>
          </a:solidFill>
          <a:ln>
            <a:solidFill>
              <a:srgbClr val="E3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0000" y="1550000"/>
            <a:ext cx="5600000" cy="450000"/>
          </a:xfrm>
          <a:prstGeom prst="round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00000" y="1550000"/>
            <a:ext cx="5600000" cy="4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Inner Scan · 同 AS 样本轴 (cross-prefix)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0" y="2100000"/>
            <a:ext cx="53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按 AS 分组，同组 G_a 个前缀在每个 bit 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2420000"/>
            <a:ext cx="53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  运行一个 Inner Mamba 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0" y="2740000"/>
            <a:ext cx="53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输出：peer-AS 的 nibble / 长度 / 子前缀共享模式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0" y="3060000"/>
            <a:ext cx="53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单例组退化为 identity —— 无副作用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0000" y="3800000"/>
            <a:ext cx="11400000" cy="1700000"/>
          </a:xfrm>
          <a:prstGeom prst="roundRect">
            <a:avLst/>
          </a:prstGeom>
          <a:solidFill>
            <a:srgbClr val="F4F6FB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3900000"/>
            <a:ext cx="11200000" cy="5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700" b="1" i="0">
                <a:solidFill>
                  <a:srgbClr val="2E7D32"/>
                </a:solidFill>
                <a:latin typeface="微软雅黑"/>
              </a:rPr>
              <a:t>▶ AS-Conditioned Gating Fusion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000" y="4400000"/>
            <a:ext cx="110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nsolas"/>
              </a:rPr>
              <a:t>  [gout, gin] = softmax(Wg · SiLU(Wg′ · c))       ← c = AS 元数据条件向量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000" y="4720000"/>
            <a:ext cx="110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nsolas"/>
              </a:rPr>
              <a:t>  X(ℓ+1) = LayerNorm( gout · Y_outer + gin · Y_inner + α · X(ℓ) )    ← α 可学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000" y="5040000"/>
            <a:ext cx="110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nsolas"/>
              </a:rPr>
              <a:t>  堆叠 N 层 DS-HMamba → 线性头输出 128×2 位 logits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000" y="5700000"/>
            <a:ext cx="11400000" cy="6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1" i="1">
                <a:solidFill>
                  <a:srgbClr val="1F3A68"/>
                </a:solidFill>
                <a:latin typeface="微软雅黑"/>
              </a:rPr>
              <a:t>▶ 让模型自适应地决定：这个 AS 更依赖 within-prefix 还是 cross-prefix 结构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两个正交扫描 + AS-gate 融合 = 首个在 IPv6 生成任务上引入 SSM 的工作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训练 · 层次化 MLM ＋ 熵加权 · 三阶段推理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03 · Design    10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000" y="1550000"/>
            <a:ext cx="11400000" cy="1200000"/>
          </a:xfrm>
          <a:prstGeom prst="roundRect">
            <a:avLst/>
          </a:prstGeom>
          <a:solidFill>
            <a:srgbClr val="F4F6FB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1600000"/>
            <a:ext cx="112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1" i="0">
                <a:solidFill>
                  <a:srgbClr val="1F3A68"/>
                </a:solidFill>
                <a:latin typeface="微软雅黑"/>
              </a:rPr>
              <a:t>▶ IPv6 分层 (RFC 4291) → Coarse / Medium / Fine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00" y="2050000"/>
            <a:ext cx="2750000" cy="5000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00" y="2050000"/>
            <a:ext cx="275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Coarse · Routing (/32-/48)
bits [0,32)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0000" y="2050000"/>
            <a:ext cx="2750000" cy="500000"/>
          </a:xfrm>
          <a:prstGeom prst="round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0000" y="2050000"/>
            <a:ext cx="275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Medium · Subnet (/48-/64)
bits [32,64)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0000" y="2050000"/>
            <a:ext cx="5500000" cy="500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0000" y="2050000"/>
            <a:ext cx="5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Fine · Interface ID (/64-/128)
bits [64,128)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000" y="2900000"/>
            <a:ext cx="5500000" cy="3100000"/>
          </a:xfrm>
          <a:prstGeom prst="roundRect">
            <a:avLst/>
          </a:prstGeom>
          <a:solidFill>
            <a:srgbClr val="FFFFFF"/>
          </a:solidFill>
          <a:ln>
            <a:solidFill>
              <a:srgbClr val="E3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0000" y="2900000"/>
            <a:ext cx="5500000" cy="450000"/>
          </a:xfrm>
          <a:prstGeom prst="round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000" y="2900000"/>
            <a:ext cx="5500000" cy="4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训练 · Layer-wise MLM + Entropy Weighting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000" y="3400000"/>
            <a:ext cx="53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1. 每步随机采样一个 stage (Coarse/Med/Fine)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00" y="3700000"/>
            <a:ext cx="53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2. 将该段 bit 替换为 [MASK]，模型重建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000" y="4000000"/>
            <a:ext cx="53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3. 仅前缀长度内的位置计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000" y="4300000"/>
            <a:ext cx="53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000" y="4600000"/>
            <a:ext cx="53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微软雅黑"/>
              </a:rPr>
              <a:t>▶ 熵加权：wᵢ = Hᵢ / H̄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000" y="4900000"/>
            <a:ext cx="53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  · 前缀 (BGP 已锁定) 位 → 权重小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000" y="5200000"/>
            <a:ext cx="53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  · 变化剧烈的位 → 权重大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000" y="5500000"/>
            <a:ext cx="53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  · 让容量集中到真正信息量大的 bit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0000" y="2900000"/>
            <a:ext cx="5600000" cy="310000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00000" y="2900000"/>
            <a:ext cx="5600000" cy="450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0000" y="2900000"/>
            <a:ext cx="5600000" cy="4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推理 · Three-Stage Masked Filling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0" y="3400000"/>
            <a:ext cx="54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0. b ← [MASK]¹²⁸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3700000"/>
            <a:ext cx="54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1. BGP lock：top-ℓ_bgp 位固定为路由前缀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000" y="4000000"/>
            <a:ext cx="54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2. Coarse fill：一次前向 → 采样 [0,32)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000" y="4300000"/>
            <a:ext cx="54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3. Medium fill：一次前向 → 采样 [32,64)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4600000"/>
            <a:ext cx="54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4. Fine fill：一次前向 → 采样 [64,128)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000" y="4900000"/>
            <a:ext cx="54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5. 按目标长度裁剪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000" y="5200000"/>
            <a:ext cx="54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000" y="5500000"/>
            <a:ext cx="5400000" cy="28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微软雅黑"/>
              </a:rPr>
              <a:t>▶ 每阶段内所有 bit 并行填充 (非自回归)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3 次前向 replaces 128 步自回归 —— 推理速度提升的核心来源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闭环在线扫描 · SeedFilter + 在线微调 + 温度自适应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04 · Closed-Loop    11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000" y="1550000"/>
            <a:ext cx="11400000" cy="1150000"/>
          </a:xfrm>
          <a:prstGeom prst="roundRect">
            <a:avLst/>
          </a:prstGeom>
          <a:solidFill>
            <a:srgbClr val="F4F6FB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1600000"/>
            <a:ext cx="112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600" b="1" i="0">
                <a:solidFill>
                  <a:srgbClr val="1F3A68"/>
                </a:solidFill>
                <a:latin typeface="微软雅黑"/>
              </a:rPr>
              <a:t>▶ 一轮闭环：Generate → Filter → Probe → Refine → Fine-tune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0000" y="2050000"/>
            <a:ext cx="2000000" cy="5800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2050000"/>
            <a:ext cx="2000000" cy="5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0000" y="2050000"/>
            <a:ext cx="130000" cy="5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2000" b="1" i="0">
                <a:solidFill>
                  <a:srgbClr val="666666"/>
                </a:solidFill>
                <a:latin typeface="微软雅黑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0000" y="2050000"/>
            <a:ext cx="2000000" cy="58000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0000" y="2050000"/>
            <a:ext cx="2000000" cy="5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SeedFilter
(L1+L2)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0000" y="2050000"/>
            <a:ext cx="130000" cy="5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2000" b="1" i="0">
                <a:solidFill>
                  <a:srgbClr val="666666"/>
                </a:solidFill>
                <a:latin typeface="微软雅黑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000" y="2050000"/>
            <a:ext cx="2000000" cy="580000"/>
          </a:xfrm>
          <a:prstGeom prst="round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000" y="2050000"/>
            <a:ext cx="2000000" cy="5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APD Probe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0000" y="2050000"/>
            <a:ext cx="130000" cy="5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2000" b="1" i="0">
                <a:solidFill>
                  <a:srgbClr val="666666"/>
                </a:solidFill>
                <a:latin typeface="微软雅黑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50000" y="2050000"/>
            <a:ext cx="2000000" cy="580000"/>
          </a:xfrm>
          <a:prstGeom prst="roundRect">
            <a:avLst/>
          </a:prstGeom>
          <a:solidFill>
            <a:srgbClr val="6A3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0000" y="2050000"/>
            <a:ext cx="2000000" cy="5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Granularity
Refine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0000" y="2050000"/>
            <a:ext cx="130000" cy="5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2000" b="1" i="0">
                <a:solidFill>
                  <a:srgbClr val="666666"/>
                </a:solidFill>
                <a:latin typeface="微软雅黑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0000" y="2050000"/>
            <a:ext cx="2000000" cy="580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0000" y="2050000"/>
            <a:ext cx="2000000" cy="5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Online
Fine-tune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000" y="2900000"/>
            <a:ext cx="3700000" cy="340000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0000" y="2900000"/>
            <a:ext cx="3700000" cy="45000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000" y="2900000"/>
            <a:ext cx="3700000" cy="4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双向 SeedFilter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000" y="3400000"/>
            <a:ext cx="3400000" cy="28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L1  精确重复剔除
     candidate == known seed → drop
L2  内含区间静默丢弃
     candidate ⊂ known seed → silent drop
     不产生负样本 (仍可能是真 FRP)
     但记录『卡在已知区』比例 r_L2
▶ 覆盖 known seed 的更宽前缀保留探测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0000" y="2900000"/>
            <a:ext cx="3700000" cy="340000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80000" y="2900000"/>
            <a:ext cx="3700000" cy="450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0000" y="2900000"/>
            <a:ext cx="3700000" cy="4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在线微调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0000" y="3400000"/>
            <a:ext cx="3400000" cy="28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θ ← θ − η · ∇[ L_MLM(F⁺) − λ·L_MLM(F⁻) ]
• λ = 0.1，讨厌但不禁止负样本
• 学习率 = 10% × 预训练
• 梯度裁剪 ||∇||₂ ≤ 1
• 少量 step，避免飘离预训练最优点
▶ APD 反馈成为在线训练信号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0000" y="2900000"/>
            <a:ext cx="3700000" cy="3400000"/>
          </a:xfrm>
          <a:prstGeom prst="roundRect">
            <a:avLst/>
          </a:prstGeom>
          <a:solidFill>
            <a:srgbClr val="FFFFFF"/>
          </a:solidFill>
          <a:ln>
            <a:solidFill>
              <a:srgbClr val="E3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60000" y="2900000"/>
            <a:ext cx="3700000" cy="450000"/>
          </a:xfrm>
          <a:prstGeom prst="round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0000" y="2900000"/>
            <a:ext cx="3700000" cy="4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自适应温度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10000" y="3400000"/>
            <a:ext cx="3400000" cy="28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r_L2 &gt; 0.3 或 r_FRP = 0
  → T ← min(2.0, 1.1·T)  (探索升温)
r_FRP &gt; 0.5
  → T ← max(0.3, 0.95·T)  (利用降温)
▶ 自动在『卡住 vs 打通』之间切换
  实验：任意 T₀∈[0.4,1.0] 收敛到 ~0.55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把静态生成变成一个『生成-探测-学习』的强化学习闭环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实验 · 端到端 FRP 发现效果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05 · Evaluation    12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000" y="1550000"/>
            <a:ext cx="11400000" cy="900000"/>
          </a:xfrm>
          <a:prstGeom prst="roundRect">
            <a:avLst/>
          </a:prstGeom>
          <a:solidFill>
            <a:srgbClr val="F4F6FB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1600000"/>
            <a:ext cx="112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600" b="1" i="0">
                <a:solidFill>
                  <a:srgbClr val="1F3A68"/>
                </a:solidFill>
                <a:latin typeface="微软雅黑"/>
              </a:rPr>
              <a:t>▶ 实验设置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2000000"/>
            <a:ext cx="112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微软雅黑"/>
              </a:rPr>
              <a:t>数据：214,102 ICMPv6 FRP · 299 AS · 273 ORG · 51 国家 · 15 CAT / 24 SUB    ｜    BGP 表：2026-04-29 快照 · 227,894 前缀    ｜    基线：MAPD / Luori / Gungnir (SOTA)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2600000"/>
            <a:ext cx="114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1" i="0">
                <a:solidFill>
                  <a:srgbClr val="1F3A68"/>
                </a:solidFill>
                <a:latin typeface="微软雅黑"/>
              </a:rPr>
              <a:t>▶ Table 1 · ICMPv6 end-to-end discovery (B_prefix ∈ {10, 30, 50})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00" y="3050000"/>
            <a:ext cx="2400000" cy="400000"/>
          </a:xfrm>
          <a:prstGeom prst="rect">
            <a:avLst/>
          </a:prstGeom>
          <a:solidFill>
            <a:srgbClr val="1F3A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000" y="3050000"/>
            <a:ext cx="24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0000" y="3050000"/>
            <a:ext cx="1700000" cy="400000"/>
          </a:xfrm>
          <a:prstGeom prst="rect">
            <a:avLst/>
          </a:prstGeom>
          <a:solidFill>
            <a:srgbClr val="1F3A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0000" y="30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MAPD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00000" y="3050000"/>
            <a:ext cx="1700000" cy="400000"/>
          </a:xfrm>
          <a:prstGeom prst="rect">
            <a:avLst/>
          </a:prstGeom>
          <a:solidFill>
            <a:srgbClr val="1F3A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0000" y="30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Luori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0000" y="3050000"/>
            <a:ext cx="1700000" cy="400000"/>
          </a:xfrm>
          <a:prstGeom prst="rect">
            <a:avLst/>
          </a:prstGeom>
          <a:solidFill>
            <a:srgbClr val="1F3A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0000" y="30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Gungnir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0000" y="3050000"/>
            <a:ext cx="1700000" cy="400000"/>
          </a:xfrm>
          <a:prstGeom prst="rect">
            <a:avLst/>
          </a:prstGeom>
          <a:solidFill>
            <a:srgbClr val="1F3A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0000" y="30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Budget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0000" y="3050000"/>
            <a:ext cx="1900000" cy="400000"/>
          </a:xfrm>
          <a:prstGeom prst="rect">
            <a:avLst/>
          </a:prstGeom>
          <a:solidFill>
            <a:srgbClr val="1F3A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0000" y="3050000"/>
            <a:ext cx="19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Heimdall (Ours)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00" y="3450000"/>
            <a:ext cx="2400000" cy="40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000" y="3450000"/>
            <a:ext cx="24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Cov_Routing @ B=10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00000" y="3450000"/>
            <a:ext cx="1700000" cy="40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00000" y="34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660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0000" y="3450000"/>
            <a:ext cx="1700000" cy="40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0000" y="34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409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0000" y="3450000"/>
            <a:ext cx="1700000" cy="40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0000" y="34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1158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0000" y="3450000"/>
            <a:ext cx="1700000" cy="40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0000" y="34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0000" y="3450000"/>
            <a:ext cx="1900000" cy="40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0000" y="3450000"/>
            <a:ext cx="19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E35D00"/>
                </a:solidFill>
                <a:latin typeface="微软雅黑"/>
              </a:rPr>
              <a:t>1452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0000" y="3850000"/>
            <a:ext cx="2400000" cy="40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0000" y="3850000"/>
            <a:ext cx="24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Cov_Routing @ B=30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00000" y="3850000"/>
            <a:ext cx="1700000" cy="40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00000" y="38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809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00000" y="3850000"/>
            <a:ext cx="1700000" cy="40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00000" y="38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1202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00000" y="3850000"/>
            <a:ext cx="1700000" cy="40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0000" y="38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1733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00000" y="3850000"/>
            <a:ext cx="1700000" cy="40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0000" y="38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0000" y="3850000"/>
            <a:ext cx="1900000" cy="40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0000" y="3850000"/>
            <a:ext cx="19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E35D00"/>
                </a:solidFill>
                <a:latin typeface="微软雅黑"/>
              </a:rPr>
              <a:t>2284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0000" y="4250000"/>
            <a:ext cx="2400000" cy="40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0000" y="4250000"/>
            <a:ext cx="24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Cov_Routing @ B=50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00000" y="4250000"/>
            <a:ext cx="1700000" cy="40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00000" y="42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909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00000" y="4250000"/>
            <a:ext cx="1700000" cy="40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00000" y="42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1765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00000" y="4250000"/>
            <a:ext cx="1700000" cy="40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00000" y="42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1903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00000" y="4250000"/>
            <a:ext cx="1700000" cy="40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00000" y="42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50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00000" y="4250000"/>
            <a:ext cx="1900000" cy="40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00000" y="4250000"/>
            <a:ext cx="19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E35D00"/>
                </a:solidFill>
                <a:latin typeface="微软雅黑"/>
              </a:rPr>
              <a:t>2516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0000" y="4650000"/>
            <a:ext cx="2400000" cy="40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0000" y="4650000"/>
            <a:ext cx="24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Cov_AS      @ B=50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00000" y="4650000"/>
            <a:ext cx="1700000" cy="40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00000" y="46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143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00000" y="4650000"/>
            <a:ext cx="1700000" cy="40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00000" y="46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141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00000" y="4650000"/>
            <a:ext cx="1700000" cy="40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00000" y="46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169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00000" y="4650000"/>
            <a:ext cx="1700000" cy="40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00000" y="4650000"/>
            <a:ext cx="1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微软雅黑"/>
              </a:rPr>
              <a:t>50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00000" y="4650000"/>
            <a:ext cx="1900000" cy="40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00000" y="4650000"/>
            <a:ext cx="19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E35D00"/>
                </a:solidFill>
                <a:latin typeface="微软雅黑"/>
              </a:rPr>
              <a:t>201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00000" y="4900000"/>
            <a:ext cx="11400000" cy="1400000"/>
          </a:xfrm>
          <a:prstGeom prst="roundRect">
            <a:avLst/>
          </a:prstGeom>
          <a:solidFill>
            <a:srgbClr val="F4F6FB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0000" y="4950000"/>
            <a:ext cx="112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微软雅黑"/>
              </a:rPr>
              <a:t>▶ 关键结论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0000" y="5300000"/>
            <a:ext cx="11100000" cy="32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B_prefix = 50 时：Cov_Routing 比 Gungnir +32%，比 MAPD 快 2.8×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0000" y="5620000"/>
            <a:ext cx="11100000" cy="32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Cov_AS 比 Gungnir +19% (169 → 201)；Cov_Space 是 Gungnir 的 1.4×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0000" y="5940000"/>
            <a:ext cx="11100000" cy="32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TCP/80 场景仍领先：Cov_Routing 1238 vs Gungnir 981 vs Luori 672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在同等探测预算下，Heimdall 全面 dominate 三个基线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对比曲线 · 6 维度指标下的 Heimdall vs Luori vs Gungnir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05 · Evaluation    13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paris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500000"/>
            <a:ext cx="11400000" cy="66627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0000" y="8222735"/>
            <a:ext cx="114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微软雅黑"/>
              </a:rPr>
              <a:t>Fig · 六指标 × 五探测预算下 (2M-10M) 的对比曲线；红色实线 = Heimdall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六个维度上 Heimdall 全线领先，且预算越大领先幅度越明显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增量净新 &amp; AS/Category/Country 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05 · Evaluation    14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etnew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00" y="1500000"/>
            <a:ext cx="5500000" cy="27989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0000" y="4358917"/>
            <a:ext cx="55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微软雅黑"/>
              </a:rPr>
              <a:t>增量净新 FRP 曲线 (剔除已知种子)</a:t>
            </a:r>
          </a:p>
        </p:txBody>
      </p:sp>
      <p:pic>
        <p:nvPicPr>
          <p:cNvPr id="8" name="Picture 7" descr="as_coverage_net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1500000"/>
            <a:ext cx="5500000" cy="26233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0000" y="4183371"/>
            <a:ext cx="55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微软雅黑"/>
              </a:rPr>
              <a:t>AS 覆盖 · 净新增</a:t>
            </a:r>
          </a:p>
        </p:txBody>
      </p:sp>
      <p:pic>
        <p:nvPicPr>
          <p:cNvPr id="10" name="Picture 9" descr="prefix_coverage_netn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00" y="4050000"/>
            <a:ext cx="5500000" cy="29027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0000" y="7012778"/>
            <a:ext cx="55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微软雅黑"/>
              </a:rPr>
              <a:t>BGP 前缀覆盖 · 净新增</a:t>
            </a:r>
          </a:p>
        </p:txBody>
      </p:sp>
      <p:pic>
        <p:nvPicPr>
          <p:cNvPr id="12" name="Picture 11" descr="category_coverage_netn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000" y="4050000"/>
            <a:ext cx="5500000" cy="297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0000" y="7080000"/>
            <a:ext cx="5500000" cy="3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  <a:latin typeface="微软雅黑"/>
              </a:rPr>
              <a:t>AS 业务类别覆盖 · 净新增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『净新』视角下更能体现 Heimdall 相对基线的真实增量能力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运行时间 · Heimdall vs Gungnir vs Luori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05 · Evaluation    15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0000" y="1550000"/>
            <a:ext cx="114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1" i="0">
                <a:solidFill>
                  <a:srgbClr val="1F3A68"/>
                </a:solidFill>
                <a:latin typeface="微软雅黑"/>
              </a:rPr>
              <a:t>▶ Table 2 · 端到端 wall-clock (hours) on N protocol/port targets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2050000"/>
            <a:ext cx="3200000" cy="430000"/>
          </a:xfrm>
          <a:prstGeom prst="rect">
            <a:avLst/>
          </a:prstGeom>
          <a:solidFill>
            <a:srgbClr val="1F3A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2050000"/>
            <a:ext cx="32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Phase / 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0" y="2050000"/>
            <a:ext cx="2500000" cy="430000"/>
          </a:xfrm>
          <a:prstGeom prst="rect">
            <a:avLst/>
          </a:prstGeom>
          <a:solidFill>
            <a:srgbClr val="1F3A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0" y="2050000"/>
            <a:ext cx="25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Luori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00000" y="2050000"/>
            <a:ext cx="2500000" cy="430000"/>
          </a:xfrm>
          <a:prstGeom prst="rect">
            <a:avLst/>
          </a:prstGeom>
          <a:solidFill>
            <a:srgbClr val="1F3A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00000" y="2050000"/>
            <a:ext cx="25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Gungnir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00000" y="2050000"/>
            <a:ext cx="3200000" cy="430000"/>
          </a:xfrm>
          <a:prstGeom prst="rect">
            <a:avLst/>
          </a:prstGeom>
          <a:solidFill>
            <a:srgbClr val="1F3A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00000" y="2050000"/>
            <a:ext cx="32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</a:rPr>
              <a:t>Heimdall (Ours)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0000" y="2480000"/>
            <a:ext cx="32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000" y="2480000"/>
            <a:ext cx="32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微软雅黑"/>
              </a:rPr>
              <a:t>Pre-training (h)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0" y="2480000"/>
            <a:ext cx="25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000" y="2480000"/>
            <a:ext cx="25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微软雅黑"/>
              </a:rPr>
              <a:t>≈ 4.9·N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0000" y="2480000"/>
            <a:ext cx="25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0000" y="2480000"/>
            <a:ext cx="25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微软雅黑"/>
              </a:rPr>
              <a:t>6.8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00000" y="2480000"/>
            <a:ext cx="32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00000" y="2480000"/>
            <a:ext cx="32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1" i="0">
                <a:solidFill>
                  <a:srgbClr val="E35D00"/>
                </a:solidFill>
                <a:latin typeface="微软雅黑"/>
              </a:rPr>
              <a:t>4.0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0000" y="2910000"/>
            <a:ext cx="32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000" y="2910000"/>
            <a:ext cx="32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微软雅黑"/>
              </a:rPr>
              <a:t>Inference     (h)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0" y="2910000"/>
            <a:ext cx="25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0000" y="2910000"/>
            <a:ext cx="25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微软雅黑"/>
              </a:rPr>
              <a:t>≈ 85·N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00000" y="2910000"/>
            <a:ext cx="25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00000" y="2910000"/>
            <a:ext cx="25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微软雅黑"/>
              </a:rPr>
              <a:t>≈ 2.5·N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00000" y="2910000"/>
            <a:ext cx="32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00000" y="2910000"/>
            <a:ext cx="32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1" i="0">
                <a:solidFill>
                  <a:srgbClr val="E35D00"/>
                </a:solidFill>
                <a:latin typeface="微软雅黑"/>
              </a:rPr>
              <a:t>1.6·N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0000" y="3340000"/>
            <a:ext cx="32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000" y="3340000"/>
            <a:ext cx="32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微软雅黑"/>
              </a:rPr>
              <a:t>Total  (N=1)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00000" y="3340000"/>
            <a:ext cx="25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00000" y="3340000"/>
            <a:ext cx="25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微软雅黑"/>
              </a:rPr>
              <a:t>89.9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00000" y="3340000"/>
            <a:ext cx="25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0000" y="3340000"/>
            <a:ext cx="25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微软雅黑"/>
              </a:rPr>
              <a:t>9.3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00000" y="3340000"/>
            <a:ext cx="32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00000" y="3340000"/>
            <a:ext cx="32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1" i="0">
                <a:solidFill>
                  <a:srgbClr val="E35D00"/>
                </a:solidFill>
                <a:latin typeface="微软雅黑"/>
              </a:rPr>
              <a:t>5.6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0000" y="3770000"/>
            <a:ext cx="32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0000" y="3770000"/>
            <a:ext cx="32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微软雅黑"/>
              </a:rPr>
              <a:t>Total  (N=3)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00000" y="3770000"/>
            <a:ext cx="25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00000" y="3770000"/>
            <a:ext cx="25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微软雅黑"/>
              </a:rPr>
              <a:t>269.7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0000" y="3770000"/>
            <a:ext cx="25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00000" y="3770000"/>
            <a:ext cx="25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微软雅黑"/>
              </a:rPr>
              <a:t>14.3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00000" y="3770000"/>
            <a:ext cx="32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00000" y="3770000"/>
            <a:ext cx="32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1" i="0">
                <a:solidFill>
                  <a:srgbClr val="E35D00"/>
                </a:solidFill>
                <a:latin typeface="微软雅黑"/>
              </a:rPr>
              <a:t>8.8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0000" y="4200000"/>
            <a:ext cx="32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0000" y="4200000"/>
            <a:ext cx="32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微软雅黑"/>
              </a:rPr>
              <a:t>Total  (N=5)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00000" y="4200000"/>
            <a:ext cx="25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00000" y="4200000"/>
            <a:ext cx="25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微软雅黑"/>
              </a:rPr>
              <a:t>449.5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00000" y="4200000"/>
            <a:ext cx="25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00000" y="4200000"/>
            <a:ext cx="25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微软雅黑"/>
              </a:rPr>
              <a:t>19.3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00000" y="4200000"/>
            <a:ext cx="32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00000" y="4200000"/>
            <a:ext cx="32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400" b="1" i="0">
                <a:solidFill>
                  <a:srgbClr val="E35D00"/>
                </a:solidFill>
                <a:latin typeface="微软雅黑"/>
              </a:rPr>
              <a:t>12.0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00000" y="4550000"/>
            <a:ext cx="11400000" cy="1750000"/>
          </a:xfrm>
          <a:prstGeom prst="roundRect">
            <a:avLst/>
          </a:prstGeom>
          <a:solidFill>
            <a:srgbClr val="F4F6FB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0000" y="4600000"/>
            <a:ext cx="112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微软雅黑"/>
              </a:rPr>
              <a:t>▶ 加速来源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0000" y="4950000"/>
            <a:ext cx="11100000" cy="32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微软雅黑"/>
              </a:rPr>
              <a:t>① 预训练 1.7× 加速 —— Mamba 选择性扫描 O(L) vs Transformer O(L²)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0000" y="5310000"/>
            <a:ext cx="11100000" cy="32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微软雅黑"/>
              </a:rPr>
              <a:t>② 每协议推理 1.5× 加速 —— 3 次并行 masked fill vs 128 步自回归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0000" y="5670000"/>
            <a:ext cx="11100000" cy="32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微软雅黑"/>
              </a:rPr>
              <a:t>③ N=5 协议时相比 Luori 37× 加速；相比 Gungnir 1.6× 加速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更强的效果 + 更快的速度 = Pareto dominance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闭环增益 &amp; 关键组件消融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05 · Evaluation    16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000" y="1550000"/>
            <a:ext cx="5500000" cy="4600000"/>
          </a:xfrm>
          <a:prstGeom prst="roundRect">
            <a:avLst/>
          </a:prstGeom>
          <a:solidFill>
            <a:srgbClr val="FFFFFF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0000" y="1550000"/>
            <a:ext cx="5500000" cy="4500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1550000"/>
            <a:ext cx="5500000" cy="4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Table 3 · 10-round 闭环发现率 ρ / 累计 FRP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2100000"/>
            <a:ext cx="2000000" cy="430000"/>
          </a:xfrm>
          <a:prstGeom prst="rect">
            <a:avLst/>
          </a:prstGeom>
          <a:solidFill>
            <a:srgbClr val="1F3A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2100000"/>
            <a:ext cx="20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Round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00000" y="2100000"/>
            <a:ext cx="1150000" cy="430000"/>
          </a:xfrm>
          <a:prstGeom prst="rect">
            <a:avLst/>
          </a:prstGeom>
          <a:solidFill>
            <a:srgbClr val="1F3A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00000" y="2100000"/>
            <a:ext cx="115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0000" y="2100000"/>
            <a:ext cx="1150000" cy="430000"/>
          </a:xfrm>
          <a:prstGeom prst="rect">
            <a:avLst/>
          </a:prstGeom>
          <a:solidFill>
            <a:srgbClr val="1F3A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0000" y="2100000"/>
            <a:ext cx="115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000" y="2100000"/>
            <a:ext cx="1200000" cy="430000"/>
          </a:xfrm>
          <a:prstGeom prst="rect">
            <a:avLst/>
          </a:prstGeom>
          <a:solidFill>
            <a:srgbClr val="1F3A68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000" y="2100000"/>
            <a:ext cx="12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2530000"/>
            <a:ext cx="20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2530000"/>
            <a:ext cx="20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</a:rPr>
              <a:t>w/o online 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00000" y="2530000"/>
            <a:ext cx="115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00000" y="2530000"/>
            <a:ext cx="115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</a:rPr>
              <a:t>0.34 / 17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0000" y="2530000"/>
            <a:ext cx="115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0000" y="2530000"/>
            <a:ext cx="115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</a:rPr>
              <a:t>0.27 / 71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000" y="2530000"/>
            <a:ext cx="12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000" y="2530000"/>
            <a:ext cx="12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微软雅黑"/>
              </a:rPr>
              <a:t>0.24 / 119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2960000"/>
            <a:ext cx="20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2960000"/>
            <a:ext cx="20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微软雅黑"/>
              </a:rPr>
              <a:t>Heimdall full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00000" y="2960000"/>
            <a:ext cx="115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00000" y="2960000"/>
            <a:ext cx="115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微软雅黑"/>
              </a:rPr>
              <a:t>0.34 / 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0000" y="2960000"/>
            <a:ext cx="115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0000" y="2960000"/>
            <a:ext cx="115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微软雅黑"/>
              </a:rPr>
              <a:t>0.48 / 91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000" y="2960000"/>
            <a:ext cx="12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000" y="2960000"/>
            <a:ext cx="12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微软雅黑"/>
              </a:rPr>
              <a:t>0.55 / 175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0000" y="3900000"/>
            <a:ext cx="53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微软雅黑"/>
              </a:rPr>
              <a:t>▶ 关键：无在线微调 → 发现率单调衰减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000" y="4250000"/>
            <a:ext cx="53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微软雅黑"/>
              </a:rPr>
              <a:t>     Heimdall full → 发现率反而上升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000" y="4600000"/>
            <a:ext cx="53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1" i="0">
                <a:solidFill>
                  <a:srgbClr val="E35D00"/>
                </a:solidFill>
                <a:latin typeface="微软雅黑"/>
              </a:rPr>
              <a:t>     10 轮后累计 FRP 增加 1.47×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0000" y="5100000"/>
            <a:ext cx="5300000" cy="7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微软雅黑"/>
              </a:rPr>
              <a:t>▶ APD 反馈 = 免费的、生长中的训练信号；
     模型跟随实际网络演化，而不是被种子锁死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0000" y="1550000"/>
            <a:ext cx="5600000" cy="4600000"/>
          </a:xfrm>
          <a:prstGeom prst="roundRect">
            <a:avLst/>
          </a:prstGeom>
          <a:solidFill>
            <a:srgbClr val="FFFFFF"/>
          </a:solidFill>
          <a:ln>
            <a:solidFill>
              <a:srgbClr val="E3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00000" y="1550000"/>
            <a:ext cx="5600000" cy="450000"/>
          </a:xfrm>
          <a:prstGeom prst="round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00000" y="1550000"/>
            <a:ext cx="5600000" cy="4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Table 4 · Held-out bit-accuracy 消融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0000" y="2100000"/>
            <a:ext cx="2900000" cy="430000"/>
          </a:xfrm>
          <a:prstGeom prst="rect">
            <a:avLst/>
          </a:prstGeom>
          <a:solidFill>
            <a:srgbClr val="E35D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0000" y="2100000"/>
            <a:ext cx="2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Variant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00000" y="2100000"/>
            <a:ext cx="900000" cy="430000"/>
          </a:xfrm>
          <a:prstGeom prst="rect">
            <a:avLst/>
          </a:prstGeom>
          <a:solidFill>
            <a:srgbClr val="E35D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00000" y="210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Coarse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00000" y="2100000"/>
            <a:ext cx="900000" cy="430000"/>
          </a:xfrm>
          <a:prstGeom prst="rect">
            <a:avLst/>
          </a:prstGeom>
          <a:solidFill>
            <a:srgbClr val="E35D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00000" y="210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Medium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000000" y="2100000"/>
            <a:ext cx="900000" cy="430000"/>
          </a:xfrm>
          <a:prstGeom prst="rect">
            <a:avLst/>
          </a:prstGeom>
          <a:solidFill>
            <a:srgbClr val="E35D00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000000" y="210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</a:rPr>
              <a:t>Fine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0000" y="2530000"/>
            <a:ext cx="29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0000" y="2530000"/>
            <a:ext cx="2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Outer-only Mamba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00000" y="2530000"/>
            <a:ext cx="9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00000" y="253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0.881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00000" y="2530000"/>
            <a:ext cx="9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00000" y="253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0.882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000000" y="2530000"/>
            <a:ext cx="9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00000" y="253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0.911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0000" y="2960000"/>
            <a:ext cx="29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0000" y="2960000"/>
            <a:ext cx="2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Inner-only Mamba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00000" y="2960000"/>
            <a:ext cx="9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00000" y="296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0.864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100000" y="2960000"/>
            <a:ext cx="9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00000" y="296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0.873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000000" y="2960000"/>
            <a:ext cx="9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000000" y="296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0.901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0000" y="3390000"/>
            <a:ext cx="29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0000" y="3390000"/>
            <a:ext cx="2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DS-HMamba w/o gate (mean)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00000" y="3390000"/>
            <a:ext cx="9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00000" y="339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0.901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100000" y="3390000"/>
            <a:ext cx="9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00000" y="339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0.905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000000" y="3390000"/>
            <a:ext cx="900000" cy="430000"/>
          </a:xfrm>
          <a:prstGeom prst="rect">
            <a:avLst/>
          </a:prstGeom>
          <a:solidFill>
            <a:srgbClr val="F4F6FB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000000" y="339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0.928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0000" y="3820000"/>
            <a:ext cx="29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0000" y="3820000"/>
            <a:ext cx="2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w/o entropy weighting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00000" y="3820000"/>
            <a:ext cx="9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00000" y="382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0.911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100000" y="3820000"/>
            <a:ext cx="9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100000" y="382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0.913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000000" y="3820000"/>
            <a:ext cx="900000" cy="430000"/>
          </a:xfrm>
          <a:prstGeom prst="rect">
            <a:avLst/>
          </a:prstGeom>
          <a:solidFill>
            <a:srgbClr val="FFFFF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000000" y="382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微软雅黑"/>
              </a:rPr>
              <a:t>0.930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00000" y="4250000"/>
            <a:ext cx="2900000" cy="430000"/>
          </a:xfrm>
          <a:prstGeom prst="rect">
            <a:avLst/>
          </a:prstGeom>
          <a:solidFill>
            <a:srgbClr val="FFF3E0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00000" y="4250000"/>
            <a:ext cx="2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1" i="0">
                <a:solidFill>
                  <a:srgbClr val="E35D00"/>
                </a:solidFill>
                <a:latin typeface="微软雅黑"/>
              </a:rPr>
              <a:t>Heimdall (full)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200000" y="4250000"/>
            <a:ext cx="900000" cy="430000"/>
          </a:xfrm>
          <a:prstGeom prst="rect">
            <a:avLst/>
          </a:prstGeom>
          <a:solidFill>
            <a:srgbClr val="FFF3E0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00000" y="425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1" i="0">
                <a:solidFill>
                  <a:srgbClr val="E35D00"/>
                </a:solidFill>
                <a:latin typeface="微软雅黑"/>
              </a:rPr>
              <a:t>0.927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100000" y="4250000"/>
            <a:ext cx="900000" cy="430000"/>
          </a:xfrm>
          <a:prstGeom prst="rect">
            <a:avLst/>
          </a:prstGeom>
          <a:solidFill>
            <a:srgbClr val="FFF3E0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100000" y="425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1" i="0">
                <a:solidFill>
                  <a:srgbClr val="E35D00"/>
                </a:solidFill>
                <a:latin typeface="微软雅黑"/>
              </a:rPr>
              <a:t>0.929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000000" y="4250000"/>
            <a:ext cx="900000" cy="430000"/>
          </a:xfrm>
          <a:prstGeom prst="rect">
            <a:avLst/>
          </a:prstGeom>
          <a:solidFill>
            <a:srgbClr val="FFF3E0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000000" y="4250000"/>
            <a:ext cx="900000" cy="43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100" b="1" i="0">
                <a:solidFill>
                  <a:srgbClr val="E35D00"/>
                </a:solidFill>
                <a:latin typeface="微软雅黑"/>
              </a:rPr>
              <a:t>0.943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0000" y="4900000"/>
            <a:ext cx="54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200" b="1" i="0">
                <a:solidFill>
                  <a:srgbClr val="E35D00"/>
                </a:solidFill>
                <a:latin typeface="微软雅黑"/>
              </a:rPr>
              <a:t>▶ Inner scan +2.0，Gate +2.6，Entropy +1.3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00000" y="5250000"/>
            <a:ext cx="5400000" cy="8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微软雅黑"/>
              </a:rPr>
              <a:t>  → 每个组件都可分离地带来独立增益，
     全套设计缺一不可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闭环反馈 &amp; 每个模块都贡献了独立增益 —— 三大设计不是过度设计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长期观测 · 3 个月 · 23 协议多轮扫描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06 · Long-Term Study    17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000" y="1550000"/>
            <a:ext cx="11400000" cy="900000"/>
          </a:xfrm>
          <a:prstGeom prst="roundRect">
            <a:avLst/>
          </a:prstGeom>
          <a:solidFill>
            <a:srgbClr val="F4F6FB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1600000"/>
            <a:ext cx="112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1" i="0">
                <a:solidFill>
                  <a:srgbClr val="1F3A68"/>
                </a:solidFill>
                <a:latin typeface="微软雅黑"/>
              </a:rPr>
              <a:t>▶ 相比 IPv6 hitlist / Luori FRP list 的增量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2000000"/>
            <a:ext cx="11200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500" b="1" i="0">
                <a:solidFill>
                  <a:srgbClr val="E35D00"/>
                </a:solidFill>
                <a:latin typeface="微软雅黑"/>
              </a:rPr>
              <a:t>Cov_AS：335 / 530 → 684    ｜    Cov_Routing：3,237 / 7,324 → 9,512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000" y="2650000"/>
            <a:ext cx="3700000" cy="3600000"/>
          </a:xfrm>
          <a:prstGeom prst="roundRect">
            <a:avLst/>
          </a:prstGeom>
          <a:solidFill>
            <a:srgbClr val="FFFFFF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0000" y="2650000"/>
            <a:ext cx="3700000" cy="5000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000" y="2650000"/>
            <a:ext cx="37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① 集中度 · Concentration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000" y="3200000"/>
            <a:ext cx="3400000" cy="295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三家组织 (Cloudflare, Amazon, Akamai)
贡献了 &gt; 2M 条 ICMPv6 FRP
以 /64 – /56 的细粒度为主
→ 与 ip_nonlocal_bind 大规模绑定行为一致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0000" y="2650000"/>
            <a:ext cx="3700000" cy="3600000"/>
          </a:xfrm>
          <a:prstGeom prst="roundRect">
            <a:avLst/>
          </a:prstGeom>
          <a:solidFill>
            <a:srgbClr val="FFFFFF"/>
          </a:solidFill>
          <a:ln>
            <a:solidFill>
              <a:srgbClr val="E3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0000" y="2650000"/>
            <a:ext cx="3700000" cy="500000"/>
          </a:xfrm>
          <a:prstGeom prst="round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0000" y="2650000"/>
            <a:ext cx="37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② 服务 vs 端口错配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0000" y="3200000"/>
            <a:ext cx="3400000" cy="295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在 1.6M 条 HTTP-FRP 地址中
仅 15% 实际返回 HTTP 应用内容
其余在 TCP 层响应但无应用
→ 疑似为规避 per-IP 限流的出向代理池
    副作用：绕过 single-IP DDoS 防御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0000" y="2650000"/>
            <a:ext cx="3700000" cy="3600000"/>
          </a:xfrm>
          <a:prstGeom prst="roundRect">
            <a:avLst/>
          </a:prstGeom>
          <a:solidFill>
            <a:srgbClr val="FFFFFF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0000" y="2650000"/>
            <a:ext cx="3700000" cy="500000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0000" y="2650000"/>
            <a:ext cx="37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</a:rPr>
              <a:t>③ 安全信号 · Security Tells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0000" y="3200000"/>
            <a:ext cx="3400000" cy="295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SSH-FRP：~11% OpenSSH 7.2p2 保留
  diffie-hellman-group14-sha1 → 蜜罐嫌疑
SSL-FRP：~23% 共用一张 Cloudflare 泛证书
  → 一旦私钥泄漏，同批 FRP 集体暴露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FRP 不只是测量噪声，更是 IPv6 生态中 CDN / 蜜罐 / 代理 的观察窗口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Ethics &amp; 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Conclusion    18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000" y="1550000"/>
            <a:ext cx="5500000" cy="460000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0000" y="1550000"/>
            <a:ext cx="5500000" cy="45000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1550000"/>
            <a:ext cx="5500000" cy="4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Ethical Considerations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000" y="2150000"/>
            <a:ext cx="5200000" cy="35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遵循 Menlo Report 与社区 ethical measurement 指南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000" y="2530000"/>
            <a:ext cx="5200000" cy="35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单一 vantage point，速率 ≤ 1 Mbps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000" y="2910000"/>
            <a:ext cx="5200000" cy="35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随机化目标顺序 · 单批 ≤ 10 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000" y="3290000"/>
            <a:ext cx="5200000" cy="35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维护 opt-out list，24 小时内响应排除请求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000" y="3670000"/>
            <a:ext cx="5200000" cy="35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从不做渗透测试，仅从 banner / version 推断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000" y="4050000"/>
            <a:ext cx="5200000" cy="35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  绝不对活主机进行漏洞验证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0000" y="1550000"/>
            <a:ext cx="5600000" cy="4600000"/>
          </a:xfrm>
          <a:prstGeom prst="roundRect">
            <a:avLst/>
          </a:prstGeom>
          <a:solidFill>
            <a:srgbClr val="FFFFFF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00000" y="1550000"/>
            <a:ext cx="5600000" cy="4500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0000" y="1550000"/>
            <a:ext cx="5600000" cy="45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总结 · Heimdall Take-away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000" y="2100000"/>
            <a:ext cx="700000" cy="4000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000" y="2100000"/>
            <a:ext cx="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0000" y="2100000"/>
            <a:ext cx="46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首个把 SSM (Mamba) 应用于 IPv6 生成的工作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0000" y="2600000"/>
            <a:ext cx="700000" cy="400000"/>
          </a:xfrm>
          <a:prstGeom prst="round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000" y="2600000"/>
            <a:ext cx="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结构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0000" y="2600000"/>
            <a:ext cx="46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Dual-Scan：位轴 + 同 AS 样本轴，AS-gate 融合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0000" y="3100000"/>
            <a:ext cx="700000" cy="40000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000" y="3100000"/>
            <a:ext cx="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训练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0000" y="3100000"/>
            <a:ext cx="46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层次化 MLM + 熵加权 + 三阶段并行推理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0000" y="3600000"/>
            <a:ext cx="700000" cy="400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0000" y="3600000"/>
            <a:ext cx="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闭环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000" y="3600000"/>
            <a:ext cx="46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双向 SeedFilter + 在线微调 + 温度自适应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0000" y="4100000"/>
            <a:ext cx="700000" cy="400000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000" y="4100000"/>
            <a:ext cx="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结果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0000" y="4100000"/>
            <a:ext cx="46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1.9× 吞吐 · 1.2× AS 覆盖 · 1.7× 训练加速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0000" y="4600000"/>
            <a:ext cx="700000" cy="400000"/>
          </a:xfrm>
          <a:prstGeom prst="roundRect">
            <a:avLst/>
          </a:prstGeom>
          <a:solidFill>
            <a:srgbClr val="6A3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000" y="4600000"/>
            <a:ext cx="7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</a:rPr>
              <a:t>开源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0000" y="4600000"/>
            <a:ext cx="46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代码、curated FRP list 计划公开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Dual-Scan × Closed-Loop × Linear-time SSM = 下一代 IPv6 主动测量的技术底座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0000"/>
            <a:ext cx="160000" cy="700000"/>
          </a:xfrm>
          <a:prstGeom prst="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380000"/>
            <a:ext cx="9200000" cy="9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600" b="1" i="0">
                <a:solidFill>
                  <a:srgbClr val="1F3A68"/>
                </a:solidFill>
                <a:latin typeface="微软雅黑"/>
              </a:rPr>
              <a:t>新学期工作展望 · 2026 秋 → 2027 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0000" y="430000"/>
            <a:ext cx="2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r"/>
            <a:r>
              <a:rPr sz="1200" b="0" i="0">
                <a:solidFill>
                  <a:srgbClr val="666666"/>
                </a:solidFill>
                <a:latin typeface="微软雅黑"/>
              </a:rPr>
              <a:t>07 · Future Work    19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" y="1350000"/>
            <a:ext cx="11500000" cy="150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000" y="1600000"/>
            <a:ext cx="3700000" cy="4200000"/>
          </a:xfrm>
          <a:prstGeom prst="roundRect">
            <a:avLst/>
          </a:prstGeom>
          <a:solidFill>
            <a:srgbClr val="FFFFFF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0000" y="1600000"/>
            <a:ext cx="3700000" cy="7000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0000" y="1700000"/>
            <a:ext cx="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00" y="1700000"/>
            <a:ext cx="29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Heimdall 投稿与开源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000" y="2400000"/>
            <a:ext cx="3400000" cy="7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完成 IEEE ICNP 投稿并跟进 Rebuttal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000" y="3150000"/>
            <a:ext cx="3400000" cy="7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迁移适配到 SIGCOMM / NSDI 更长版本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000" y="3900000"/>
            <a:ext cx="3400000" cy="7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开源代码 + curated FRP list 发布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000" y="4650000"/>
            <a:ext cx="3400000" cy="7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与业界数据集 (IPv6 Hitlist) 建立打通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0000" y="1600000"/>
            <a:ext cx="3700000" cy="4200000"/>
          </a:xfrm>
          <a:prstGeom prst="roundRect">
            <a:avLst/>
          </a:prstGeom>
          <a:solidFill>
            <a:srgbClr val="FFFFFF"/>
          </a:solidFill>
          <a:ln>
            <a:solidFill>
              <a:srgbClr val="E35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0000" y="1600000"/>
            <a:ext cx="3700000" cy="700000"/>
          </a:xfrm>
          <a:prstGeom prst="roundRect">
            <a:avLst/>
          </a:prstGeom>
          <a:solidFill>
            <a:srgbClr val="E35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0000" y="1700000"/>
            <a:ext cx="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0" y="1700000"/>
            <a:ext cx="29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闭环 &amp; SSM 方法延伸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0000" y="2400000"/>
            <a:ext cx="3400000" cy="7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Dual-Scan 推广到 IPv6 命中率预测任务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0000" y="3150000"/>
            <a:ext cx="3400000" cy="7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引入 Vision Mamba 结构处理时序种子演化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0000" y="3900000"/>
            <a:ext cx="3400000" cy="7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用 RL policy gradient 替代当前手工温度控制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0000" y="4650000"/>
            <a:ext cx="3400000" cy="7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探索多头/多协议同时训练的联合模型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0000" y="1600000"/>
            <a:ext cx="3700000" cy="420000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60000" y="1600000"/>
            <a:ext cx="3700000" cy="7000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10000" y="1700000"/>
            <a:ext cx="5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0000" y="1700000"/>
            <a:ext cx="2900000" cy="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/>
              </a:rPr>
              <a:t>系统 &amp; 生产落地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0000" y="2400000"/>
            <a:ext cx="3400000" cy="7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与 TGW / 云 IP 复用测量团队方向联动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10000" y="3150000"/>
            <a:ext cx="3400000" cy="7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探索面向蜜罐/代理池的 IPv6 攻击面研究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10000" y="3900000"/>
            <a:ext cx="3400000" cy="7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生产集群持续多协议扫描 → 半年一次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10000" y="4650000"/>
            <a:ext cx="3400000" cy="7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微软雅黑"/>
              </a:rPr>
              <a:t>• 组内例会：每 2 周同步一次进度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0000" y="5950000"/>
            <a:ext cx="11400000" cy="400000"/>
          </a:xfrm>
          <a:prstGeom prst="roundRect">
            <a:avLst/>
          </a:prstGeom>
          <a:solidFill>
            <a:srgbClr val="F4F6FB"/>
          </a:solidFill>
          <a:ln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5950000"/>
            <a:ext cx="11200000" cy="4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1300" b="1" i="0">
                <a:solidFill>
                  <a:srgbClr val="1F3A68"/>
                </a:solidFill>
                <a:latin typeface="微软雅黑"/>
              </a:rPr>
              <a:t>▶ Roadmap：Q4·2026 完成 ICNP 投稿 → Q1·2027 系统开源 &amp; 联合团队评审 → Q2·2027 冲刺 SIGCOMM/NSDI 扩展版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80000"/>
            <a:ext cx="12192000" cy="380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0000" y="6480000"/>
            <a:ext cx="11500000" cy="38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l"/>
            <a:r>
              <a:rPr sz="1400" b="1" i="0">
                <a:solidFill>
                  <a:srgbClr val="1F3A68"/>
                </a:solidFill>
                <a:latin typeface="微软雅黑"/>
              </a:rPr>
              <a:t>💡 学术 × 工程 × 组内协作，三条主线并进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00000"/>
            <a:ext cx="12192000" cy="1500000"/>
          </a:xfrm>
          <a:prstGeom prst="rect">
            <a:avLst/>
          </a:prstGeom>
          <a:noFill/>
        </p:spPr>
        <p:txBody>
          <a:bodyPr wrap="square" lIns="50000" rIns="50000" tIns="30000" bIns="30000" anchor="ctr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微软雅黑"/>
              </a:rPr>
              <a:t>Thank You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00000"/>
            <a:ext cx="12192000" cy="6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ctr"/>
            <a:r>
              <a:rPr sz="2400" b="0" i="1">
                <a:solidFill>
                  <a:srgbClr val="F9D18B"/>
                </a:solidFill>
                <a:latin typeface="微软雅黑"/>
              </a:rPr>
              <a:t>Heimdall · Dual-Scan Closed-Loop FRP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00000"/>
            <a:ext cx="12192000" cy="5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/>
              </a:rPr>
              <a:t>Q &amp; A · 欢迎讨论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00000"/>
            <a:ext cx="12192000" cy="400000"/>
          </a:xfrm>
          <a:prstGeom prst="rect">
            <a:avLst/>
          </a:prstGeom>
          <a:noFill/>
        </p:spPr>
        <p:txBody>
          <a:bodyPr wrap="square" lIns="50000" rIns="50000" tIns="30000" bIns="30000" anchor="t">
            <a:spAutoFit/>
          </a:bodyPr>
          <a:lstStyle/>
          <a:p>
            <a:pPr algn="ctr"/>
            <a:r>
              <a:rPr sz="1400" b="0" i="0">
                <a:solidFill>
                  <a:srgbClr val="CCDAF0"/>
                </a:solidFill>
                <a:latin typeface="微软雅黑"/>
              </a:rPr>
              <a:t>分享人：谷雨宸    ·    组会分享    ·    2026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0211030答辩-张超-SQ2021YFB2700035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WPS 演示</Application>
  <PresentationFormat/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21" baseType="lpstr">
      <vt:lpstr>Arial</vt:lpstr>
      <vt:lpstr>宋体</vt:lpstr>
      <vt:lpstr>Wingdings</vt:lpstr>
      <vt:lpstr>Arial</vt:lpstr>
      <vt:lpstr>方正粗黑宋简体</vt:lpstr>
      <vt:lpstr>Arial Black</vt:lpstr>
      <vt:lpstr>微软雅黑</vt:lpstr>
      <vt:lpstr>Calibri</vt:lpstr>
      <vt:lpstr>Noto Sans SC</vt:lpstr>
      <vt:lpstr>Arial Unicode MS</vt:lpstr>
      <vt:lpstr>微软雅黑 Light</vt:lpstr>
      <vt:lpstr>等线</vt:lpstr>
      <vt:lpstr>Songti SC</vt:lpstr>
      <vt:lpstr>Arial Black</vt:lpstr>
      <vt:lpstr>Calibri</vt:lpstr>
      <vt:lpstr>Songti SC</vt:lpstr>
      <vt:lpstr>KSOFC9B4417F</vt:lpstr>
      <vt:lpstr>Office 主题​​</vt:lpstr>
      <vt:lpstr>20211030答辩-张超-SQ2021YFB2700035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谷雨宸</cp:lastModifiedBy>
  <cp:revision>2</cp:revision>
  <dcterms:created xsi:type="dcterms:W3CDTF">2026-05-08T12:10:00Z</dcterms:created>
  <dcterms:modified xsi:type="dcterms:W3CDTF">2026-08-24T04:42:07Z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1FE9D6044F0A4FC987498188CB99D037_12</vt:lpwstr>
  </property>
</Properties>
</file>